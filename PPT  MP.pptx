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52" r:id="rId1"/>
  </p:sldMasterIdLst>
  <p:notesMasterIdLst>
    <p:notesMasterId r:id="rId21"/>
  </p:notesMasterIdLst>
  <p:sldIdLst>
    <p:sldId id="256" r:id="rId2"/>
    <p:sldId id="261" r:id="rId3"/>
    <p:sldId id="265" r:id="rId4"/>
    <p:sldId id="266" r:id="rId5"/>
    <p:sldId id="267" r:id="rId6"/>
    <p:sldId id="268" r:id="rId7"/>
    <p:sldId id="269" r:id="rId8"/>
    <p:sldId id="270" r:id="rId9"/>
    <p:sldId id="258" r:id="rId10"/>
    <p:sldId id="262" r:id="rId11"/>
    <p:sldId id="276" r:id="rId12"/>
    <p:sldId id="277" r:id="rId13"/>
    <p:sldId id="278" r:id="rId14"/>
    <p:sldId id="279" r:id="rId15"/>
    <p:sldId id="280" r:id="rId16"/>
    <p:sldId id="263" r:id="rId17"/>
    <p:sldId id="271" r:id="rId18"/>
    <p:sldId id="272" r:id="rId19"/>
    <p:sldId id="264" r:id="rId20"/>
  </p:sldIdLst>
  <p:sldSz cx="12192000" cy="6858000"/>
  <p:notesSz cx="9144000" cy="6858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5" roundtripDataSignature="AMtx7mjulNVcaLa/rGJql38tptp+b6rG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8423689-8D2B-4A92-9EA0-C961E4EEE104}" v="3" dt="2026-04-27T05:28:12.835"/>
  </p1510:revLst>
</p1510:revInfo>
</file>

<file path=ppt/tableStyles.xml><?xml version="1.0" encoding="utf-8"?>
<a:tblStyleLst xmlns:a="http://schemas.openxmlformats.org/drawingml/2006/main" def="{D15894DF-9AC3-41A8-843B-C29A499DB286}">
  <a:tblStyle styleId="{D15894DF-9AC3-41A8-843B-C29A499DB28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73" autoAdjust="0"/>
    <p:restoredTop sz="94660"/>
  </p:normalViewPr>
  <p:slideViewPr>
    <p:cSldViewPr snapToGrid="0">
      <p:cViewPr varScale="1">
        <p:scale>
          <a:sx n="78" d="100"/>
          <a:sy n="78" d="100"/>
        </p:scale>
        <p:origin x="744" y="7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jith R B" userId="ee351c8a5678d51d" providerId="LiveId" clId="{E897F520-C31B-482B-8D67-CFA533DED8B2}"/>
    <pc:docChg chg="custSel delSld modSld">
      <pc:chgData name="Ajith R B" userId="ee351c8a5678d51d" providerId="LiveId" clId="{E897F520-C31B-482B-8D67-CFA533DED8B2}" dt="2026-04-27T05:51:54.831" v="70" actId="2711"/>
      <pc:docMkLst>
        <pc:docMk/>
      </pc:docMkLst>
      <pc:sldChg chg="modSp mod">
        <pc:chgData name="Ajith R B" userId="ee351c8a5678d51d" providerId="LiveId" clId="{E897F520-C31B-482B-8D67-CFA533DED8B2}" dt="2026-04-27T05:51:07.977" v="67" actId="14100"/>
        <pc:sldMkLst>
          <pc:docMk/>
          <pc:sldMk cId="3826783068" sldId="261"/>
        </pc:sldMkLst>
        <pc:spChg chg="mod">
          <ac:chgData name="Ajith R B" userId="ee351c8a5678d51d" providerId="LiveId" clId="{E897F520-C31B-482B-8D67-CFA533DED8B2}" dt="2026-04-27T05:51:07.977" v="67" actId="14100"/>
          <ac:spMkLst>
            <pc:docMk/>
            <pc:sldMk cId="3826783068" sldId="261"/>
            <ac:spMk id="120" creationId="{96ADB42B-7D7B-C80E-2174-F410B74DDCB4}"/>
          </ac:spMkLst>
        </pc:spChg>
      </pc:sldChg>
      <pc:sldChg chg="addSp delSp modSp mod">
        <pc:chgData name="Ajith R B" userId="ee351c8a5678d51d" providerId="LiveId" clId="{E897F520-C31B-482B-8D67-CFA533DED8B2}" dt="2026-04-27T05:49:54.903" v="63" actId="1076"/>
        <pc:sldMkLst>
          <pc:docMk/>
          <pc:sldMk cId="2794962726" sldId="262"/>
        </pc:sldMkLst>
        <pc:spChg chg="add mod">
          <ac:chgData name="Ajith R B" userId="ee351c8a5678d51d" providerId="LiveId" clId="{E897F520-C31B-482B-8D67-CFA533DED8B2}" dt="2026-04-27T05:49:54.903" v="63" actId="1076"/>
          <ac:spMkLst>
            <pc:docMk/>
            <pc:sldMk cId="2794962726" sldId="262"/>
            <ac:spMk id="6" creationId="{59DB6BFA-CAD1-534D-9C72-45A13350E95E}"/>
          </ac:spMkLst>
        </pc:spChg>
        <pc:spChg chg="del mod">
          <ac:chgData name="Ajith R B" userId="ee351c8a5678d51d" providerId="LiveId" clId="{E897F520-C31B-482B-8D67-CFA533DED8B2}" dt="2026-04-27T05:46:35.392" v="47" actId="478"/>
          <ac:spMkLst>
            <pc:docMk/>
            <pc:sldMk cId="2794962726" sldId="262"/>
            <ac:spMk id="8" creationId="{D29CF283-5FA7-AB4A-26F6-B67161B6733B}"/>
          </ac:spMkLst>
        </pc:spChg>
        <pc:spChg chg="del mod">
          <ac:chgData name="Ajith R B" userId="ee351c8a5678d51d" providerId="LiveId" clId="{E897F520-C31B-482B-8D67-CFA533DED8B2}" dt="2026-04-27T05:47:41.350" v="52" actId="478"/>
          <ac:spMkLst>
            <pc:docMk/>
            <pc:sldMk cId="2794962726" sldId="262"/>
            <ac:spMk id="127" creationId="{D0C54A5D-E957-7646-A44F-9F0478E5BBEC}"/>
          </ac:spMkLst>
        </pc:spChg>
        <pc:picChg chg="add mod">
          <ac:chgData name="Ajith R B" userId="ee351c8a5678d51d" providerId="LiveId" clId="{E897F520-C31B-482B-8D67-CFA533DED8B2}" dt="2026-04-27T05:49:14.347" v="57" actId="14100"/>
          <ac:picMkLst>
            <pc:docMk/>
            <pc:sldMk cId="2794962726" sldId="262"/>
            <ac:picMk id="4" creationId="{40339C4F-39ED-485D-5CE6-6BD4C1F30A34}"/>
          </ac:picMkLst>
        </pc:picChg>
      </pc:sldChg>
      <pc:sldChg chg="modSp mod">
        <pc:chgData name="Ajith R B" userId="ee351c8a5678d51d" providerId="LiveId" clId="{E897F520-C31B-482B-8D67-CFA533DED8B2}" dt="2026-04-24T02:53:29.568" v="38" actId="14100"/>
        <pc:sldMkLst>
          <pc:docMk/>
          <pc:sldMk cId="1361728" sldId="263"/>
        </pc:sldMkLst>
        <pc:spChg chg="mod">
          <ac:chgData name="Ajith R B" userId="ee351c8a5678d51d" providerId="LiveId" clId="{E897F520-C31B-482B-8D67-CFA533DED8B2}" dt="2026-04-24T02:53:29.568" v="38" actId="14100"/>
          <ac:spMkLst>
            <pc:docMk/>
            <pc:sldMk cId="1361728" sldId="263"/>
            <ac:spMk id="4" creationId="{AAED0D85-9C92-4A36-CC14-28787E641A9A}"/>
          </ac:spMkLst>
        </pc:spChg>
        <pc:spChg chg="mod">
          <ac:chgData name="Ajith R B" userId="ee351c8a5678d51d" providerId="LiveId" clId="{E897F520-C31B-482B-8D67-CFA533DED8B2}" dt="2026-04-24T02:53:22.763" v="37" actId="14100"/>
          <ac:spMkLst>
            <pc:docMk/>
            <pc:sldMk cId="1361728" sldId="263"/>
            <ac:spMk id="169" creationId="{D704FEC7-605D-9D94-516B-315367AF3F41}"/>
          </ac:spMkLst>
        </pc:spChg>
      </pc:sldChg>
      <pc:sldChg chg="modSp mod">
        <pc:chgData name="Ajith R B" userId="ee351c8a5678d51d" providerId="LiveId" clId="{E897F520-C31B-482B-8D67-CFA533DED8B2}" dt="2026-04-27T05:51:54.831" v="70" actId="2711"/>
        <pc:sldMkLst>
          <pc:docMk/>
          <pc:sldMk cId="3316907785" sldId="265"/>
        </pc:sldMkLst>
        <pc:spChg chg="mod">
          <ac:chgData name="Ajith R B" userId="ee351c8a5678d51d" providerId="LiveId" clId="{E897F520-C31B-482B-8D67-CFA533DED8B2}" dt="2026-04-27T05:51:54.831" v="70" actId="2711"/>
          <ac:spMkLst>
            <pc:docMk/>
            <pc:sldMk cId="3316907785" sldId="265"/>
            <ac:spMk id="120" creationId="{CAE8EA6A-592B-EBFB-20F3-7AA9EDFECD0E}"/>
          </ac:spMkLst>
        </pc:spChg>
      </pc:sldChg>
      <pc:sldChg chg="modSp mod">
        <pc:chgData name="Ajith R B" userId="ee351c8a5678d51d" providerId="LiveId" clId="{E897F520-C31B-482B-8D67-CFA533DED8B2}" dt="2026-04-24T02:53:03.849" v="34" actId="120"/>
        <pc:sldMkLst>
          <pc:docMk/>
          <pc:sldMk cId="1831734087" sldId="271"/>
        </pc:sldMkLst>
        <pc:spChg chg="mod">
          <ac:chgData name="Ajith R B" userId="ee351c8a5678d51d" providerId="LiveId" clId="{E897F520-C31B-482B-8D67-CFA533DED8B2}" dt="2026-04-24T02:53:03.849" v="34" actId="120"/>
          <ac:spMkLst>
            <pc:docMk/>
            <pc:sldMk cId="1831734087" sldId="271"/>
            <ac:spMk id="4" creationId="{823A134D-3AA1-8C29-539C-0C8BA332E27C}"/>
          </ac:spMkLst>
        </pc:spChg>
      </pc:sldChg>
      <pc:sldChg chg="del">
        <pc:chgData name="Ajith R B" userId="ee351c8a5678d51d" providerId="LiveId" clId="{E897F520-C31B-482B-8D67-CFA533DED8B2}" dt="2026-04-27T05:50:15.669" v="64" actId="2696"/>
        <pc:sldMkLst>
          <pc:docMk/>
          <pc:sldMk cId="140639162" sldId="273"/>
        </pc:sldMkLst>
      </pc:sldChg>
      <pc:sldChg chg="del">
        <pc:chgData name="Ajith R B" userId="ee351c8a5678d51d" providerId="LiveId" clId="{E897F520-C31B-482B-8D67-CFA533DED8B2}" dt="2026-04-27T05:50:18.667" v="65" actId="2696"/>
        <pc:sldMkLst>
          <pc:docMk/>
          <pc:sldMk cId="679606151" sldId="274"/>
        </pc:sldMkLst>
      </pc:sldChg>
      <pc:sldChg chg="modSp del">
        <pc:chgData name="Ajith R B" userId="ee351c8a5678d51d" providerId="LiveId" clId="{E897F520-C31B-482B-8D67-CFA533DED8B2}" dt="2026-04-27T05:50:20.751" v="66" actId="2696"/>
        <pc:sldMkLst>
          <pc:docMk/>
          <pc:sldMk cId="2162490282" sldId="275"/>
        </pc:sldMkLst>
        <pc:spChg chg="mod">
          <ac:chgData name="Ajith R B" userId="ee351c8a5678d51d" providerId="LiveId" clId="{E897F520-C31B-482B-8D67-CFA533DED8B2}" dt="2026-04-27T05:28:11.047" v="40"/>
          <ac:spMkLst>
            <pc:docMk/>
            <pc:sldMk cId="2162490282" sldId="275"/>
            <ac:spMk id="3" creationId="{6F095965-B191-AF20-73D2-067B0C72D2EA}"/>
          </ac:spMkLst>
        </pc:spChg>
      </pc:sldChg>
      <pc:sldChg chg="modSp mod">
        <pc:chgData name="Ajith R B" userId="ee351c8a5678d51d" providerId="LiveId" clId="{E897F520-C31B-482B-8D67-CFA533DED8B2}" dt="2026-04-24T02:51:27.560" v="17" actId="14100"/>
        <pc:sldMkLst>
          <pc:docMk/>
          <pc:sldMk cId="4145966780" sldId="276"/>
        </pc:sldMkLst>
        <pc:spChg chg="mod">
          <ac:chgData name="Ajith R B" userId="ee351c8a5678d51d" providerId="LiveId" clId="{E897F520-C31B-482B-8D67-CFA533DED8B2}" dt="2026-04-24T02:50:50.967" v="11" actId="123"/>
          <ac:spMkLst>
            <pc:docMk/>
            <pc:sldMk cId="4145966780" sldId="276"/>
            <ac:spMk id="4" creationId="{6D5A64A2-A89B-CF9A-A056-44C9B99EC2EB}"/>
          </ac:spMkLst>
        </pc:spChg>
        <pc:picChg chg="mod">
          <ac:chgData name="Ajith R B" userId="ee351c8a5678d51d" providerId="LiveId" clId="{E897F520-C31B-482B-8D67-CFA533DED8B2}" dt="2026-04-24T02:51:27.560" v="17" actId="14100"/>
          <ac:picMkLst>
            <pc:docMk/>
            <pc:sldMk cId="4145966780" sldId="276"/>
            <ac:picMk id="6" creationId="{655BB4D3-3492-F87D-4506-D267F378332B}"/>
          </ac:picMkLst>
        </pc:picChg>
      </pc:sldChg>
      <pc:sldChg chg="modSp mod">
        <pc:chgData name="Ajith R B" userId="ee351c8a5678d51d" providerId="LiveId" clId="{E897F520-C31B-482B-8D67-CFA533DED8B2}" dt="2026-04-24T02:54:11.181" v="39" actId="12"/>
        <pc:sldMkLst>
          <pc:docMk/>
          <pc:sldMk cId="430841339" sldId="277"/>
        </pc:sldMkLst>
        <pc:spChg chg="mod">
          <ac:chgData name="Ajith R B" userId="ee351c8a5678d51d" providerId="LiveId" clId="{E897F520-C31B-482B-8D67-CFA533DED8B2}" dt="2026-04-24T02:54:11.181" v="39" actId="12"/>
          <ac:spMkLst>
            <pc:docMk/>
            <pc:sldMk cId="430841339" sldId="277"/>
            <ac:spMk id="4" creationId="{17D7002F-3E2E-41C8-FB04-6242D1C99976}"/>
          </ac:spMkLst>
        </pc:spChg>
        <pc:picChg chg="mod">
          <ac:chgData name="Ajith R B" userId="ee351c8a5678d51d" providerId="LiveId" clId="{E897F520-C31B-482B-8D67-CFA533DED8B2}" dt="2026-04-24T02:51:11.671" v="14" actId="14100"/>
          <ac:picMkLst>
            <pc:docMk/>
            <pc:sldMk cId="430841339" sldId="277"/>
            <ac:picMk id="9" creationId="{87FD7BB8-508D-9A7D-EC1F-9E9856EEF120}"/>
          </ac:picMkLst>
        </pc:picChg>
      </pc:sldChg>
      <pc:sldChg chg="modSp mod">
        <pc:chgData name="Ajith R B" userId="ee351c8a5678d51d" providerId="LiveId" clId="{E897F520-C31B-482B-8D67-CFA533DED8B2}" dt="2026-04-24T02:52:09.830" v="27" actId="123"/>
        <pc:sldMkLst>
          <pc:docMk/>
          <pc:sldMk cId="2921070359" sldId="278"/>
        </pc:sldMkLst>
        <pc:spChg chg="mod">
          <ac:chgData name="Ajith R B" userId="ee351c8a5678d51d" providerId="LiveId" clId="{E897F520-C31B-482B-8D67-CFA533DED8B2}" dt="2026-04-24T02:52:09.830" v="27" actId="123"/>
          <ac:spMkLst>
            <pc:docMk/>
            <pc:sldMk cId="2921070359" sldId="278"/>
            <ac:spMk id="19" creationId="{794C5305-B6C4-4B17-60B6-A4FB75A7F99B}"/>
          </ac:spMkLst>
        </pc:spChg>
        <pc:picChg chg="mod">
          <ac:chgData name="Ajith R B" userId="ee351c8a5678d51d" providerId="LiveId" clId="{E897F520-C31B-482B-8D67-CFA533DED8B2}" dt="2026-04-24T02:51:58.497" v="24" actId="14100"/>
          <ac:picMkLst>
            <pc:docMk/>
            <pc:sldMk cId="2921070359" sldId="278"/>
            <ac:picMk id="16" creationId="{5243A5B1-DC1F-A048-80C5-32851BA44061}"/>
          </ac:picMkLst>
        </pc:picChg>
      </pc:sldChg>
      <pc:sldChg chg="modSp mod">
        <pc:chgData name="Ajith R B" userId="ee351c8a5678d51d" providerId="LiveId" clId="{E897F520-C31B-482B-8D67-CFA533DED8B2}" dt="2026-04-24T02:52:20.966" v="28" actId="123"/>
        <pc:sldMkLst>
          <pc:docMk/>
          <pc:sldMk cId="511885152" sldId="279"/>
        </pc:sldMkLst>
        <pc:spChg chg="mod">
          <ac:chgData name="Ajith R B" userId="ee351c8a5678d51d" providerId="LiveId" clId="{E897F520-C31B-482B-8D67-CFA533DED8B2}" dt="2026-04-24T02:52:20.966" v="28" actId="123"/>
          <ac:spMkLst>
            <pc:docMk/>
            <pc:sldMk cId="511885152" sldId="279"/>
            <ac:spMk id="13" creationId="{E99012C4-8424-0782-F984-5938F3A6631B}"/>
          </ac:spMkLst>
        </pc:spChg>
      </pc:sldChg>
      <pc:sldChg chg="modSp mod">
        <pc:chgData name="Ajith R B" userId="ee351c8a5678d51d" providerId="LiveId" clId="{E897F520-C31B-482B-8D67-CFA533DED8B2}" dt="2026-04-24T02:52:33.324" v="29" actId="123"/>
        <pc:sldMkLst>
          <pc:docMk/>
          <pc:sldMk cId="2416321891" sldId="280"/>
        </pc:sldMkLst>
        <pc:spChg chg="mod">
          <ac:chgData name="Ajith R B" userId="ee351c8a5678d51d" providerId="LiveId" clId="{E897F520-C31B-482B-8D67-CFA533DED8B2}" dt="2026-04-24T02:52:33.324" v="29" actId="123"/>
          <ac:spMkLst>
            <pc:docMk/>
            <pc:sldMk cId="2416321891" sldId="280"/>
            <ac:spMk id="4" creationId="{D0F3AC3F-0EA1-018F-B7CA-D66EB1BDF1B2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5179484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651391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>
          <a:extLst>
            <a:ext uri="{FF2B5EF4-FFF2-40B4-BE49-F238E27FC236}">
              <a16:creationId xmlns:a16="http://schemas.microsoft.com/office/drawing/2014/main" id="{FB28ABAC-B3AF-055B-A26C-E76E3AEF19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:notes">
            <a:extLst>
              <a:ext uri="{FF2B5EF4-FFF2-40B4-BE49-F238E27FC236}">
                <a16:creationId xmlns:a16="http://schemas.microsoft.com/office/drawing/2014/main" id="{7574AF33-396A-4DF3-7E99-B2D3E4F2CB3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2" name="Google Shape;112;p2:notes">
            <a:extLst>
              <a:ext uri="{FF2B5EF4-FFF2-40B4-BE49-F238E27FC236}">
                <a16:creationId xmlns:a16="http://schemas.microsoft.com/office/drawing/2014/main" id="{ACBF38D8-0DB7-A0D6-4ADE-62264FEF084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2:notes">
            <a:extLst>
              <a:ext uri="{FF2B5EF4-FFF2-40B4-BE49-F238E27FC236}">
                <a16:creationId xmlns:a16="http://schemas.microsoft.com/office/drawing/2014/main" id="{E61684F1-D22C-ED38-7941-F64F1DE5E2CC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5179484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2:notes">
            <a:extLst>
              <a:ext uri="{FF2B5EF4-FFF2-40B4-BE49-F238E27FC236}">
                <a16:creationId xmlns:a16="http://schemas.microsoft.com/office/drawing/2014/main" id="{5B697167-850C-13BF-2191-434699819F1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807808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>
          <a:extLst>
            <a:ext uri="{FF2B5EF4-FFF2-40B4-BE49-F238E27FC236}">
              <a16:creationId xmlns:a16="http://schemas.microsoft.com/office/drawing/2014/main" id="{79833506-5EA7-A748-F869-F31E81B7CC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:notes">
            <a:extLst>
              <a:ext uri="{FF2B5EF4-FFF2-40B4-BE49-F238E27FC236}">
                <a16:creationId xmlns:a16="http://schemas.microsoft.com/office/drawing/2014/main" id="{D847FCEB-3E4B-3691-ACF1-23CD3C7DEB9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2" name="Google Shape;112;p2:notes">
            <a:extLst>
              <a:ext uri="{FF2B5EF4-FFF2-40B4-BE49-F238E27FC236}">
                <a16:creationId xmlns:a16="http://schemas.microsoft.com/office/drawing/2014/main" id="{0E80F32D-1559-FAE2-F197-DD8B8A1AC1E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2:notes">
            <a:extLst>
              <a:ext uri="{FF2B5EF4-FFF2-40B4-BE49-F238E27FC236}">
                <a16:creationId xmlns:a16="http://schemas.microsoft.com/office/drawing/2014/main" id="{7C9CBCFE-909C-E0F6-C46B-83695D1F1010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5179484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2:notes">
            <a:extLst>
              <a:ext uri="{FF2B5EF4-FFF2-40B4-BE49-F238E27FC236}">
                <a16:creationId xmlns:a16="http://schemas.microsoft.com/office/drawing/2014/main" id="{520AB691-50C1-4116-E2DD-EA6835C00F3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813418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>
          <a:extLst>
            <a:ext uri="{FF2B5EF4-FFF2-40B4-BE49-F238E27FC236}">
              <a16:creationId xmlns:a16="http://schemas.microsoft.com/office/drawing/2014/main" id="{C29B79C8-2FFA-84BC-8B8B-5656E2B821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:notes">
            <a:extLst>
              <a:ext uri="{FF2B5EF4-FFF2-40B4-BE49-F238E27FC236}">
                <a16:creationId xmlns:a16="http://schemas.microsoft.com/office/drawing/2014/main" id="{82E634E7-6F00-8023-5008-E47A8AE8D94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2" name="Google Shape;112;p2:notes">
            <a:extLst>
              <a:ext uri="{FF2B5EF4-FFF2-40B4-BE49-F238E27FC236}">
                <a16:creationId xmlns:a16="http://schemas.microsoft.com/office/drawing/2014/main" id="{A37F4AA7-C5DE-9175-A105-E81316095B7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2:notes">
            <a:extLst>
              <a:ext uri="{FF2B5EF4-FFF2-40B4-BE49-F238E27FC236}">
                <a16:creationId xmlns:a16="http://schemas.microsoft.com/office/drawing/2014/main" id="{412772E1-F785-E3C1-24F1-1530D583E390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5179484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2:notes">
            <a:extLst>
              <a:ext uri="{FF2B5EF4-FFF2-40B4-BE49-F238E27FC236}">
                <a16:creationId xmlns:a16="http://schemas.microsoft.com/office/drawing/2014/main" id="{9EBCA65C-6E06-44AC-3DFC-758F4C24DF5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846700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>
          <a:extLst>
            <a:ext uri="{FF2B5EF4-FFF2-40B4-BE49-F238E27FC236}">
              <a16:creationId xmlns:a16="http://schemas.microsoft.com/office/drawing/2014/main" id="{028F777D-9FD6-ED6F-61DB-125259937A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:notes">
            <a:extLst>
              <a:ext uri="{FF2B5EF4-FFF2-40B4-BE49-F238E27FC236}">
                <a16:creationId xmlns:a16="http://schemas.microsoft.com/office/drawing/2014/main" id="{B5146D60-D195-11A7-49C2-23C7D9CFEE0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2" name="Google Shape;112;p2:notes">
            <a:extLst>
              <a:ext uri="{FF2B5EF4-FFF2-40B4-BE49-F238E27FC236}">
                <a16:creationId xmlns:a16="http://schemas.microsoft.com/office/drawing/2014/main" id="{6E7B5512-1E17-20F9-AFF8-1189806356D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2:notes">
            <a:extLst>
              <a:ext uri="{FF2B5EF4-FFF2-40B4-BE49-F238E27FC236}">
                <a16:creationId xmlns:a16="http://schemas.microsoft.com/office/drawing/2014/main" id="{12213593-D0B1-5AD9-B61B-1923C26A362F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5179484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2:notes">
            <a:extLst>
              <a:ext uri="{FF2B5EF4-FFF2-40B4-BE49-F238E27FC236}">
                <a16:creationId xmlns:a16="http://schemas.microsoft.com/office/drawing/2014/main" id="{5B7AB955-8620-9A8D-4037-396815D6ED3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86685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>
          <a:extLst>
            <a:ext uri="{FF2B5EF4-FFF2-40B4-BE49-F238E27FC236}">
              <a16:creationId xmlns:a16="http://schemas.microsoft.com/office/drawing/2014/main" id="{CD940F34-5733-F4B1-61C4-AC09855EB7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:notes">
            <a:extLst>
              <a:ext uri="{FF2B5EF4-FFF2-40B4-BE49-F238E27FC236}">
                <a16:creationId xmlns:a16="http://schemas.microsoft.com/office/drawing/2014/main" id="{6655652E-C3B1-D517-F0DD-207CA9B1657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2" name="Google Shape;112;p2:notes">
            <a:extLst>
              <a:ext uri="{FF2B5EF4-FFF2-40B4-BE49-F238E27FC236}">
                <a16:creationId xmlns:a16="http://schemas.microsoft.com/office/drawing/2014/main" id="{3959F387-8E43-9868-BC8B-EEC8EF7348E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2:notes">
            <a:extLst>
              <a:ext uri="{FF2B5EF4-FFF2-40B4-BE49-F238E27FC236}">
                <a16:creationId xmlns:a16="http://schemas.microsoft.com/office/drawing/2014/main" id="{12D12429-5A85-B985-BDD3-DB4DCC9BD774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5179484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2:notes">
            <a:extLst>
              <a:ext uri="{FF2B5EF4-FFF2-40B4-BE49-F238E27FC236}">
                <a16:creationId xmlns:a16="http://schemas.microsoft.com/office/drawing/2014/main" id="{69AB4E0F-C24B-E1BF-E585-ADDC25D9A8D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9946211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>
          <a:extLst>
            <a:ext uri="{FF2B5EF4-FFF2-40B4-BE49-F238E27FC236}">
              <a16:creationId xmlns:a16="http://schemas.microsoft.com/office/drawing/2014/main" id="{F0C9B38E-851C-F1BA-53A3-E8FA95A97A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:notes">
            <a:extLst>
              <a:ext uri="{FF2B5EF4-FFF2-40B4-BE49-F238E27FC236}">
                <a16:creationId xmlns:a16="http://schemas.microsoft.com/office/drawing/2014/main" id="{4FB9CD66-9ADF-12FA-5673-99DDD2A8B8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2" name="Google Shape;112;p2:notes">
            <a:extLst>
              <a:ext uri="{FF2B5EF4-FFF2-40B4-BE49-F238E27FC236}">
                <a16:creationId xmlns:a16="http://schemas.microsoft.com/office/drawing/2014/main" id="{EAAF768C-7B70-A011-D156-C8A04904132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2:notes">
            <a:extLst>
              <a:ext uri="{FF2B5EF4-FFF2-40B4-BE49-F238E27FC236}">
                <a16:creationId xmlns:a16="http://schemas.microsoft.com/office/drawing/2014/main" id="{5C8CCDC7-3C62-888A-8279-B140D94847C2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5179484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2:notes">
            <a:extLst>
              <a:ext uri="{FF2B5EF4-FFF2-40B4-BE49-F238E27FC236}">
                <a16:creationId xmlns:a16="http://schemas.microsoft.com/office/drawing/2014/main" id="{D903DA1B-A787-BD21-4FC1-33F46CDF283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267237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>
          <a:extLst>
            <a:ext uri="{FF2B5EF4-FFF2-40B4-BE49-F238E27FC236}">
              <a16:creationId xmlns:a16="http://schemas.microsoft.com/office/drawing/2014/main" id="{14DDF260-E0E4-A5AE-B181-CAB99E5EE0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:notes">
            <a:extLst>
              <a:ext uri="{FF2B5EF4-FFF2-40B4-BE49-F238E27FC236}">
                <a16:creationId xmlns:a16="http://schemas.microsoft.com/office/drawing/2014/main" id="{2AA45C44-379B-BA06-CBBF-7CC71CBE059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2" name="Google Shape;112;p2:notes">
            <a:extLst>
              <a:ext uri="{FF2B5EF4-FFF2-40B4-BE49-F238E27FC236}">
                <a16:creationId xmlns:a16="http://schemas.microsoft.com/office/drawing/2014/main" id="{1F9C6820-0021-A084-0B83-EFC88EDA04C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2:notes">
            <a:extLst>
              <a:ext uri="{FF2B5EF4-FFF2-40B4-BE49-F238E27FC236}">
                <a16:creationId xmlns:a16="http://schemas.microsoft.com/office/drawing/2014/main" id="{FFC50CB6-2FFB-C95B-A576-17554342259F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5179484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2:notes">
            <a:extLst>
              <a:ext uri="{FF2B5EF4-FFF2-40B4-BE49-F238E27FC236}">
                <a16:creationId xmlns:a16="http://schemas.microsoft.com/office/drawing/2014/main" id="{ED210136-1570-93D7-8893-5AD9E8315CF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7174757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>
          <a:extLst>
            <a:ext uri="{FF2B5EF4-FFF2-40B4-BE49-F238E27FC236}">
              <a16:creationId xmlns:a16="http://schemas.microsoft.com/office/drawing/2014/main" id="{0D6856D2-799E-217E-AB68-3A2AD18E0A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:notes">
            <a:extLst>
              <a:ext uri="{FF2B5EF4-FFF2-40B4-BE49-F238E27FC236}">
                <a16:creationId xmlns:a16="http://schemas.microsoft.com/office/drawing/2014/main" id="{AD95C8CF-C0EF-70A3-F958-D9F2FE5A262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3:notes">
            <a:extLst>
              <a:ext uri="{FF2B5EF4-FFF2-40B4-BE49-F238E27FC236}">
                <a16:creationId xmlns:a16="http://schemas.microsoft.com/office/drawing/2014/main" id="{F0B9CA94-DAF2-EF91-6842-3997380CC8F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5163915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>
          <a:extLst>
            <a:ext uri="{FF2B5EF4-FFF2-40B4-BE49-F238E27FC236}">
              <a16:creationId xmlns:a16="http://schemas.microsoft.com/office/drawing/2014/main" id="{991A8F5B-0A8E-E279-C2B8-B27DAB8B9C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5:notes">
            <a:extLst>
              <a:ext uri="{FF2B5EF4-FFF2-40B4-BE49-F238E27FC236}">
                <a16:creationId xmlns:a16="http://schemas.microsoft.com/office/drawing/2014/main" id="{7B968651-FC8A-A230-99A9-B1CD5E2A2A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5:notes">
            <a:extLst>
              <a:ext uri="{FF2B5EF4-FFF2-40B4-BE49-F238E27FC236}">
                <a16:creationId xmlns:a16="http://schemas.microsoft.com/office/drawing/2014/main" id="{C07555D2-E2CE-450A-615B-9F7DDCD04EB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8747045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>
          <a:extLst>
            <a:ext uri="{FF2B5EF4-FFF2-40B4-BE49-F238E27FC236}">
              <a16:creationId xmlns:a16="http://schemas.microsoft.com/office/drawing/2014/main" id="{0F507DB2-5B64-1FC0-2737-1CAF2E862B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5:notes">
            <a:extLst>
              <a:ext uri="{FF2B5EF4-FFF2-40B4-BE49-F238E27FC236}">
                <a16:creationId xmlns:a16="http://schemas.microsoft.com/office/drawing/2014/main" id="{791A13DF-DEB2-7652-0783-A4AE3201CF2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5:notes">
            <a:extLst>
              <a:ext uri="{FF2B5EF4-FFF2-40B4-BE49-F238E27FC236}">
                <a16:creationId xmlns:a16="http://schemas.microsoft.com/office/drawing/2014/main" id="{FB28371C-29DF-F144-3EBA-DC1043D2E33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710394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9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0" name="Google Shape;30;p9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1" name="Google Shape;31;p9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2" name="Google Shape;32;p9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3" name="Google Shape;33;p9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2"/>
          <p:cNvSpPr txBox="1"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6" name="Google Shape;36;p12"/>
          <p:cNvSpPr txBox="1"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7" name="Google Shape;37;p12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8" name="Google Shape;38;p12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9" name="Google Shape;39;p12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3"/>
          <p:cNvSpPr txBox="1"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2" name="Google Shape;42;p13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3" name="Google Shape;43;p13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4" name="Google Shape;44;p13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5" name="Google Shape;45;p13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5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55" name="Google Shape;55;p15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6" name="Google Shape;56;p15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7" name="Google Shape;57;p15"/>
          <p:cNvSpPr txBox="1">
            <a:spLocks noGrp="1"/>
          </p:cNvSpPr>
          <p:nvPr>
            <p:ph type="body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8" name="Google Shape;58;p15"/>
          <p:cNvSpPr txBox="1">
            <a:spLocks noGrp="1"/>
          </p:cNvSpPr>
          <p:nvPr>
            <p:ph type="body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9" name="Google Shape;59;p15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0" name="Google Shape;60;p15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1" name="Google Shape;61;p15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6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64" name="Google Shape;64;p16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5" name="Google Shape;65;p16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6" name="Google Shape;66;p16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7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9" name="Google Shape;69;p17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0" name="Google Shape;70;p17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8"/>
          <p:cNvSpPr txBox="1"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3" name="Google Shape;73;p18"/>
          <p:cNvSpPr txBox="1">
            <a:spLocks noGrp="1"/>
          </p:cNvSpPr>
          <p:nvPr>
            <p:ph type="body" idx="1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4" name="Google Shape;74;p18"/>
          <p:cNvSpPr txBox="1">
            <a:spLocks noGrp="1"/>
          </p:cNvSpPr>
          <p:nvPr>
            <p:ph type="body" idx="2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5" name="Google Shape;75;p18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6" name="Google Shape;76;p18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7" name="Google Shape;77;p18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9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0" name="Google Shape;80;p19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81" name="Google Shape;81;p19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2" name="Google Shape;82;p19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3" name="Google Shape;83;p19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4" name="Google Shape;84;p19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0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7" name="Google Shape;87;p20"/>
          <p:cNvSpPr txBox="1">
            <a:spLocks noGrp="1"/>
          </p:cNvSpPr>
          <p:nvPr>
            <p:ph type="body" idx="1"/>
          </p:nvPr>
        </p:nvSpPr>
        <p:spPr>
          <a:xfrm rot="5400000">
            <a:off x="3833019" y="-1623218"/>
            <a:ext cx="4525963" cy="109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8" name="Google Shape;88;p20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9" name="Google Shape;89;p20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0" name="Google Shape;90;p20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1"/>
          <p:cNvSpPr txBox="1">
            <a:spLocks noGrp="1"/>
          </p:cNvSpPr>
          <p:nvPr>
            <p:ph type="title"/>
          </p:nvPr>
        </p:nvSpPr>
        <p:spPr>
          <a:xfrm rot="5400000">
            <a:off x="7285038" y="1828802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93" name="Google Shape;93;p21"/>
          <p:cNvSpPr txBox="1">
            <a:spLocks noGrp="1"/>
          </p:cNvSpPr>
          <p:nvPr>
            <p:ph type="body" idx="1"/>
          </p:nvPr>
        </p:nvSpPr>
        <p:spPr>
          <a:xfrm rot="5400000">
            <a:off x="1697038" y="-812799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4" name="Google Shape;94;p21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5" name="Google Shape;95;p21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6" name="Google Shape;96;p21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le Slide">
  <p:cSld name="2_Title Slide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Title Slide">
  <p:cSld name="3_Title Slide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8"/>
          <p:cNvSpPr/>
          <p:nvPr/>
        </p:nvSpPr>
        <p:spPr>
          <a:xfrm>
            <a:off x="0" y="-27384"/>
            <a:ext cx="12192000" cy="576000"/>
          </a:xfrm>
          <a:prstGeom prst="rect">
            <a:avLst/>
          </a:prstGeom>
          <a:solidFill>
            <a:srgbClr val="538CD5"/>
          </a:solidFill>
          <a:ln>
            <a:noFill/>
          </a:ln>
          <a:effectLst>
            <a:outerShdw blurRad="50800" sx="1000" sy="1000" algn="t" rotWithShape="0">
              <a:srgbClr val="538CD5"/>
            </a:outerShdw>
            <a:reflection stA="57000" endPos="44000" sy="-100000" algn="bl" rotWithShape="0"/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" name="Google Shape;27;p8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10390983" y="-27591"/>
            <a:ext cx="1791492" cy="576207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  <p:sldLayoutId id="2147483664" r:id="rId11"/>
    <p:sldLayoutId id="2147483665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/>
          <p:cNvSpPr txBox="1">
            <a:spLocks noGrp="1"/>
          </p:cNvSpPr>
          <p:nvPr>
            <p:ph type="ctrTitle"/>
          </p:nvPr>
        </p:nvSpPr>
        <p:spPr>
          <a:xfrm>
            <a:off x="2209800" y="2209801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>
              <a:buSzPts val="1800"/>
            </a:pPr>
            <a:r>
              <a:rPr lang="en-US" sz="1800" b="1" dirty="0"/>
              <a:t>GenAI Based Real-Time Human Well-Being and Stress Analysis System </a:t>
            </a:r>
            <a:br>
              <a:rPr lang="en-IN" sz="1800" b="1" dirty="0">
                <a:latin typeface="Verdana"/>
                <a:ea typeface="Verdana"/>
                <a:cs typeface="Verdana"/>
                <a:sym typeface="Verdana"/>
              </a:rPr>
            </a:br>
            <a:r>
              <a:rPr lang="en-IN" sz="1800" b="1" dirty="0">
                <a:latin typeface="Verdana"/>
                <a:ea typeface="Verdana"/>
                <a:cs typeface="Verdana"/>
                <a:sym typeface="Verdana"/>
              </a:rPr>
              <a:t>Section A</a:t>
            </a:r>
            <a:br>
              <a:rPr lang="en-IN" sz="1800" b="1" dirty="0">
                <a:latin typeface="Verdana"/>
                <a:ea typeface="Verdana"/>
                <a:cs typeface="Verdana"/>
                <a:sym typeface="Verdana"/>
              </a:rPr>
            </a:br>
            <a:endParaRPr dirty="0"/>
          </a:p>
        </p:txBody>
      </p:sp>
      <p:sp>
        <p:nvSpPr>
          <p:cNvPr id="90" name="Google Shape;90;p1"/>
          <p:cNvSpPr txBox="1">
            <a:spLocks noGrp="1"/>
          </p:cNvSpPr>
          <p:nvPr>
            <p:ph type="subTitle" idx="1"/>
          </p:nvPr>
        </p:nvSpPr>
        <p:spPr>
          <a:xfrm>
            <a:off x="1341119" y="3759200"/>
            <a:ext cx="4253435" cy="213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algn="l">
              <a:spcBef>
                <a:spcPts val="360"/>
              </a:spcBef>
              <a:buClr>
                <a:schemeClr val="dk1"/>
              </a:buClr>
              <a:buSzPts val="1800"/>
            </a:pPr>
            <a:r>
              <a:rPr lang="en-IN" sz="18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Students Details: </a:t>
            </a:r>
          </a:p>
          <a:p>
            <a:pPr algn="l">
              <a:spcBef>
                <a:spcPts val="360"/>
              </a:spcBef>
              <a:buClr>
                <a:schemeClr val="dk1"/>
              </a:buClr>
              <a:buSzPts val="1800"/>
            </a:pPr>
            <a:r>
              <a:rPr lang="en-IN" sz="18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Chinmay C (ENG23AM0021)</a:t>
            </a:r>
          </a:p>
          <a:p>
            <a:pPr algn="l">
              <a:spcBef>
                <a:spcPts val="360"/>
              </a:spcBef>
              <a:buClr>
                <a:schemeClr val="dk1"/>
              </a:buClr>
              <a:buSzPts val="1800"/>
            </a:pPr>
            <a:r>
              <a:rPr lang="en-IN" sz="18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Dhanush R Gowda(ENG24AM1010)</a:t>
            </a:r>
          </a:p>
          <a:p>
            <a:pPr algn="l">
              <a:spcBef>
                <a:spcPts val="360"/>
              </a:spcBef>
              <a:buClr>
                <a:schemeClr val="dk1"/>
              </a:buClr>
              <a:buSzPts val="1800"/>
            </a:pPr>
            <a:r>
              <a:rPr lang="en-IN" sz="18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Ajith RB (ENG23AM0003)</a:t>
            </a:r>
          </a:p>
          <a:p>
            <a:pPr algn="l">
              <a:spcBef>
                <a:spcPts val="360"/>
              </a:spcBef>
              <a:buClr>
                <a:schemeClr val="dk1"/>
              </a:buClr>
              <a:buSzPts val="1800"/>
            </a:pPr>
            <a:r>
              <a:rPr lang="en-IN" sz="18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Akshay GK (ENG23AM0006)</a:t>
            </a:r>
          </a:p>
          <a:p>
            <a:pPr algn="l">
              <a:spcBef>
                <a:spcPts val="360"/>
              </a:spcBef>
              <a:buClr>
                <a:schemeClr val="dk1"/>
              </a:buClr>
              <a:buSzPts val="1800"/>
            </a:pPr>
            <a:endParaRPr sz="18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91" name="Google Shape;91;p1" descr="DSU"/>
          <p:cNvPicPr preferRelativeResize="0"/>
          <p:nvPr/>
        </p:nvPicPr>
        <p:blipFill rotWithShape="1">
          <a:blip r:embed="rId3">
            <a:alphaModFix/>
          </a:blip>
          <a:srcRect l="34667"/>
          <a:stretch>
            <a:fillRect/>
          </a:stretch>
        </p:blipFill>
        <p:spPr>
          <a:xfrm>
            <a:off x="1798320" y="823697"/>
            <a:ext cx="2489200" cy="146929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90;p1">
            <a:extLst>
              <a:ext uri="{FF2B5EF4-FFF2-40B4-BE49-F238E27FC236}">
                <a16:creationId xmlns:a16="http://schemas.microsoft.com/office/drawing/2014/main" id="{A700557B-D107-2862-976B-545D53B1C511}"/>
              </a:ext>
            </a:extLst>
          </p:cNvPr>
          <p:cNvSpPr txBox="1">
            <a:spLocks/>
          </p:cNvSpPr>
          <p:nvPr/>
        </p:nvSpPr>
        <p:spPr>
          <a:xfrm>
            <a:off x="7538720" y="4191000"/>
            <a:ext cx="2783840" cy="213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31800" algn="ctr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ctr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ctr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 algn="l">
              <a:spcBef>
                <a:spcPts val="360"/>
              </a:spcBef>
              <a:buClr>
                <a:schemeClr val="dk1"/>
              </a:buClr>
              <a:buSzPts val="1800"/>
            </a:pPr>
            <a:r>
              <a:rPr lang="en-IN" sz="18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Mentored By: </a:t>
            </a:r>
          </a:p>
          <a:p>
            <a:pPr marL="0" indent="0" algn="l">
              <a:spcBef>
                <a:spcPts val="360"/>
              </a:spcBef>
              <a:buClr>
                <a:schemeClr val="dk1"/>
              </a:buClr>
              <a:buSzPts val="1800"/>
            </a:pPr>
            <a:r>
              <a:rPr lang="en-IN" sz="18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Dr. </a:t>
            </a:r>
            <a:r>
              <a:rPr lang="en-IN" sz="1800" dirty="0" err="1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M.Manimaran</a:t>
            </a:r>
            <a:endParaRPr lang="en-IN" sz="18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indent="0" algn="l">
              <a:spcBef>
                <a:spcPts val="360"/>
              </a:spcBef>
              <a:buClr>
                <a:schemeClr val="dk1"/>
              </a:buClr>
              <a:buSzPts val="1800"/>
            </a:pPr>
            <a:endParaRPr lang="en-IN" sz="18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indent="0" algn="l">
              <a:spcBef>
                <a:spcPts val="360"/>
              </a:spcBef>
              <a:buClr>
                <a:schemeClr val="dk1"/>
              </a:buClr>
              <a:buSzPts val="1800"/>
            </a:pPr>
            <a:endParaRPr lang="en-IN" sz="18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69B41DE-CB88-D08C-9D76-5BD180F2A1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3286" y="823697"/>
            <a:ext cx="1558834" cy="155883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4A40EB7-AFF0-4918-3FDD-6E74187F8F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81343" y="-39909"/>
            <a:ext cx="593629" cy="59362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>
          <a:extLst>
            <a:ext uri="{FF2B5EF4-FFF2-40B4-BE49-F238E27FC236}">
              <a16:creationId xmlns:a16="http://schemas.microsoft.com/office/drawing/2014/main" id="{650D0DA8-3B0B-A495-E232-8154E143D0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">
            <a:extLst>
              <a:ext uri="{FF2B5EF4-FFF2-40B4-BE49-F238E27FC236}">
                <a16:creationId xmlns:a16="http://schemas.microsoft.com/office/drawing/2014/main" id="{CF81CF45-1BAE-BE36-3509-670B8CB11D4B}"/>
              </a:ext>
            </a:extLst>
          </p:cNvPr>
          <p:cNvSpPr txBox="1"/>
          <p:nvPr/>
        </p:nvSpPr>
        <p:spPr>
          <a:xfrm>
            <a:off x="182252" y="67146"/>
            <a:ext cx="7569932" cy="4095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lang="en-IN" sz="3200" b="1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Objectives</a:t>
            </a:r>
            <a:endParaRPr sz="3200" b="1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2">
            <a:extLst>
              <a:ext uri="{FF2B5EF4-FFF2-40B4-BE49-F238E27FC236}">
                <a16:creationId xmlns:a16="http://schemas.microsoft.com/office/drawing/2014/main" id="{ACEF316F-A892-2CEF-5B85-2922C8D6311E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Dept. of CSE(AI&amp;ML)</a:t>
            </a:r>
            <a:endParaRPr/>
          </a:p>
        </p:txBody>
      </p:sp>
      <p:sp>
        <p:nvSpPr>
          <p:cNvPr id="119" name="Google Shape;119;p2">
            <a:extLst>
              <a:ext uri="{FF2B5EF4-FFF2-40B4-BE49-F238E27FC236}">
                <a16:creationId xmlns:a16="http://schemas.microsoft.com/office/drawing/2014/main" id="{75031AD4-A5F6-9016-D444-8B9B42B8EA1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2</a:t>
            </a:fld>
            <a:endParaRPr/>
          </a:p>
        </p:txBody>
      </p:sp>
      <p:sp>
        <p:nvSpPr>
          <p:cNvPr id="120" name="Google Shape;120;p2">
            <a:extLst>
              <a:ext uri="{FF2B5EF4-FFF2-40B4-BE49-F238E27FC236}">
                <a16:creationId xmlns:a16="http://schemas.microsoft.com/office/drawing/2014/main" id="{96ADB42B-7D7B-C80E-2174-F410B74DDCB4}"/>
              </a:ext>
            </a:extLst>
          </p:cNvPr>
          <p:cNvSpPr txBox="1"/>
          <p:nvPr/>
        </p:nvSpPr>
        <p:spPr>
          <a:xfrm>
            <a:off x="845575" y="1429212"/>
            <a:ext cx="10205884" cy="27237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collect multimodal mental health data including emotional state, lifestyle habits, and social factors from users using a structured Google Form survey.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preprocess and clean the collected data, perform anonymization, and extract key features such as stress levels, sleep quality, and social support.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and train a machine learning model (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HistGradientBoostingClassifier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to analyze patterns and accurately predict mental well-being levels.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integrate Generative AI for trend analysis, generate personalized insights, and support early intervention and decision-making in mental health. </a:t>
            </a:r>
          </a:p>
          <a:p>
            <a:pPr lvl="0">
              <a:lnSpc>
                <a:spcPct val="150000"/>
              </a:lnSpc>
              <a:buClr>
                <a:schemeClr val="dk1"/>
              </a:buClr>
              <a:buSzPts val="1800"/>
            </a:pPr>
            <a:endParaRPr sz="1800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7F4A7F3-7D53-A418-8C32-CB36B78B3A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81343" y="-39909"/>
            <a:ext cx="593629" cy="593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67830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>
          <a:extLst>
            <a:ext uri="{FF2B5EF4-FFF2-40B4-BE49-F238E27FC236}">
              <a16:creationId xmlns:a16="http://schemas.microsoft.com/office/drawing/2014/main" id="{A12CDD1C-3AD0-1606-3A5D-E8F763F007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">
            <a:extLst>
              <a:ext uri="{FF2B5EF4-FFF2-40B4-BE49-F238E27FC236}">
                <a16:creationId xmlns:a16="http://schemas.microsoft.com/office/drawing/2014/main" id="{AD7701DD-25F5-9D4C-DDA2-00A8ADC06349}"/>
              </a:ext>
            </a:extLst>
          </p:cNvPr>
          <p:cNvSpPr txBox="1"/>
          <p:nvPr/>
        </p:nvSpPr>
        <p:spPr>
          <a:xfrm>
            <a:off x="182252" y="67146"/>
            <a:ext cx="7569932" cy="4095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lang="en-IN" sz="3200" b="1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Introduction</a:t>
            </a:r>
            <a:endParaRPr sz="3200" b="1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2">
            <a:extLst>
              <a:ext uri="{FF2B5EF4-FFF2-40B4-BE49-F238E27FC236}">
                <a16:creationId xmlns:a16="http://schemas.microsoft.com/office/drawing/2014/main" id="{73199AC4-0570-80F4-453E-92F74F4BA464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Dept. of CSE(AI&amp;ML)</a:t>
            </a:r>
            <a:endParaRPr/>
          </a:p>
        </p:txBody>
      </p:sp>
      <p:sp>
        <p:nvSpPr>
          <p:cNvPr id="119" name="Google Shape;119;p2">
            <a:extLst>
              <a:ext uri="{FF2B5EF4-FFF2-40B4-BE49-F238E27FC236}">
                <a16:creationId xmlns:a16="http://schemas.microsoft.com/office/drawing/2014/main" id="{9E04857B-E3E4-067A-C9BF-DF480C7B9A0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3</a:t>
            </a:fld>
            <a:endParaRPr/>
          </a:p>
        </p:txBody>
      </p:sp>
      <p:sp>
        <p:nvSpPr>
          <p:cNvPr id="120" name="Google Shape;120;p2">
            <a:extLst>
              <a:ext uri="{FF2B5EF4-FFF2-40B4-BE49-F238E27FC236}">
                <a16:creationId xmlns:a16="http://schemas.microsoft.com/office/drawing/2014/main" id="{CAE8EA6A-592B-EBFB-20F3-7AA9EDFECD0E}"/>
              </a:ext>
            </a:extLst>
          </p:cNvPr>
          <p:cNvSpPr txBox="1"/>
          <p:nvPr/>
        </p:nvSpPr>
        <p:spPr>
          <a:xfrm>
            <a:off x="772857" y="1262175"/>
            <a:ext cx="10202116" cy="3231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lvl="0" indent="-285750" algn="just"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Increasing stress and declining mental well-being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among individuals due to academic, professional, and social pressures highlight the need for effective monitoring systems.</a:t>
            </a:r>
          </a:p>
          <a:p>
            <a:pPr marL="285750" lvl="0" indent="-285750" algn="just"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stress assessment methods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such as questionnaires, wearables, and basic ML models, are limited by subjectivity, periodic analysis, and lack of real-time capability.</a:t>
            </a:r>
          </a:p>
          <a:p>
            <a:pPr marL="285750" lvl="0" indent="-285750" algn="just"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solutions fail to provide continuous and adaptive monitoring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as most systems do not adjust to individual behavioral and physiological changes over time.</a:t>
            </a:r>
          </a:p>
          <a:p>
            <a:pPr marL="285750" lvl="0" indent="-285750" algn="just"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explainability and multimodal data integration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present systems reduce trust and accuracy in stress prediction outcomes.</a:t>
            </a:r>
          </a:p>
          <a:p>
            <a:pPr marL="285750" lvl="0" indent="-285750" algn="just"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a need for a GenAI-based real-time system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offers accurate, explainable, personalized stress analysis and proactive well-being recommendations.</a:t>
            </a:r>
            <a:endParaRPr lang="en-US" sz="1800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285750" lvl="2" indent="-285750">
              <a:buClr>
                <a:schemeClr val="dk1"/>
              </a:buClr>
              <a:buSzPts val="1800"/>
              <a:buFont typeface="Arial"/>
              <a:buChar char="•"/>
            </a:pPr>
            <a:endParaRPr sz="2400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E14C939-6BC8-144F-BB82-FFBD63C310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81343" y="-39909"/>
            <a:ext cx="593629" cy="593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69077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>
          <a:extLst>
            <a:ext uri="{FF2B5EF4-FFF2-40B4-BE49-F238E27FC236}">
              <a16:creationId xmlns:a16="http://schemas.microsoft.com/office/drawing/2014/main" id="{81D36458-F0B6-36B0-FB28-B094AEE4A4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">
            <a:extLst>
              <a:ext uri="{FF2B5EF4-FFF2-40B4-BE49-F238E27FC236}">
                <a16:creationId xmlns:a16="http://schemas.microsoft.com/office/drawing/2014/main" id="{1DFDA269-EB5A-E886-2E9C-ED425C3148C9}"/>
              </a:ext>
            </a:extLst>
          </p:cNvPr>
          <p:cNvSpPr txBox="1"/>
          <p:nvPr/>
        </p:nvSpPr>
        <p:spPr>
          <a:xfrm>
            <a:off x="182252" y="67146"/>
            <a:ext cx="7569932" cy="4095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lang="en-IN" sz="3200" b="1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Literature Review</a:t>
            </a:r>
            <a:endParaRPr sz="3200" b="1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2">
            <a:extLst>
              <a:ext uri="{FF2B5EF4-FFF2-40B4-BE49-F238E27FC236}">
                <a16:creationId xmlns:a16="http://schemas.microsoft.com/office/drawing/2014/main" id="{C8A476B3-AB90-8378-83F4-54491CB416C2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Dept. of CSE(AI&amp;ML)</a:t>
            </a:r>
            <a:endParaRPr/>
          </a:p>
        </p:txBody>
      </p:sp>
      <p:sp>
        <p:nvSpPr>
          <p:cNvPr id="119" name="Google Shape;119;p2">
            <a:extLst>
              <a:ext uri="{FF2B5EF4-FFF2-40B4-BE49-F238E27FC236}">
                <a16:creationId xmlns:a16="http://schemas.microsoft.com/office/drawing/2014/main" id="{2F46D330-EDED-1861-0D93-2C3E0D2A519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4</a:t>
            </a:fld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4242D89-16CE-A6FA-B2CB-2CFE2C4384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81343" y="-39909"/>
            <a:ext cx="593629" cy="593629"/>
          </a:xfrm>
          <a:prstGeom prst="rect">
            <a:avLst/>
          </a:prstGeom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34FDBDE-0A73-1687-371E-8A4C0CFEE3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715323"/>
              </p:ext>
            </p:extLst>
          </p:nvPr>
        </p:nvGraphicFramePr>
        <p:xfrm>
          <a:off x="381965" y="790786"/>
          <a:ext cx="11354764" cy="4998805"/>
        </p:xfrm>
        <a:graphic>
          <a:graphicData uri="http://schemas.openxmlformats.org/drawingml/2006/table">
            <a:tbl>
              <a:tblPr firstRow="1" bandRow="1">
                <a:tableStyleId>{D15894DF-9AC3-41A8-843B-C29A499DB286}</a:tableStyleId>
              </a:tblPr>
              <a:tblGrid>
                <a:gridCol w="891250">
                  <a:extLst>
                    <a:ext uri="{9D8B030D-6E8A-4147-A177-3AD203B41FA5}">
                      <a16:colId xmlns:a16="http://schemas.microsoft.com/office/drawing/2014/main" val="358493874"/>
                    </a:ext>
                  </a:extLst>
                </a:gridCol>
                <a:gridCol w="2361236">
                  <a:extLst>
                    <a:ext uri="{9D8B030D-6E8A-4147-A177-3AD203B41FA5}">
                      <a16:colId xmlns:a16="http://schemas.microsoft.com/office/drawing/2014/main" val="3355566687"/>
                    </a:ext>
                  </a:extLst>
                </a:gridCol>
                <a:gridCol w="4376940">
                  <a:extLst>
                    <a:ext uri="{9D8B030D-6E8A-4147-A177-3AD203B41FA5}">
                      <a16:colId xmlns:a16="http://schemas.microsoft.com/office/drawing/2014/main" val="3186896456"/>
                    </a:ext>
                  </a:extLst>
                </a:gridCol>
                <a:gridCol w="3725338">
                  <a:extLst>
                    <a:ext uri="{9D8B030D-6E8A-4147-A177-3AD203B41FA5}">
                      <a16:colId xmlns:a16="http://schemas.microsoft.com/office/drawing/2014/main" val="739950733"/>
                    </a:ext>
                  </a:extLst>
                </a:gridCol>
              </a:tblGrid>
              <a:tr h="852819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S.No</a:t>
                      </a:r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IN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Details of Paper</a:t>
                      </a:r>
                      <a:endParaRPr lang="en-IN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Objectives, Dataset used, Methodology/Models used</a:t>
                      </a:r>
                      <a:endParaRPr lang="en-IN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Results/Advantages/Limitations</a:t>
                      </a:r>
                      <a:endParaRPr lang="en-IN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76256550"/>
                  </a:ext>
                </a:extLst>
              </a:tr>
              <a:tr h="1829506"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18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Sano, A. &amp; Picard, R.W., 2020. </a:t>
                      </a:r>
                      <a:r>
                        <a:rPr lang="en-US" sz="16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Stress recognition using wearable sensors and contextual data</a:t>
                      </a: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en-US" sz="1800" dirty="0"/>
                        <a:t> </a:t>
                      </a:r>
                      <a:r>
                        <a:rPr lang="en-US" sz="16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IEEE</a:t>
                      </a: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Journal of Biomedical and Health Informatics.</a:t>
                      </a:r>
                      <a:endParaRPr lang="en-IN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Objective: To detect daily stress using wearable physiological and </a:t>
                      </a:r>
                      <a:r>
                        <a:rPr lang="en-IN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behavioral</a:t>
                      </a: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data.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Dataset: Long-term wearable sensor dataset (HRV, EDA, sleep, activity).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Models: Random Forest, SVM, deep learning models.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Achieved improved stress detection accuracy using multimodal data.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Accuracy </a:t>
                      </a: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~79%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Advantage: Real-world continuous monitoring.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Limitation: Limited personalization and explainability.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endParaRPr lang="en-IN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22125106"/>
                  </a:ext>
                </a:extLst>
              </a:tr>
              <a:tr h="1829506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IN" sz="16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Gjoreski</a:t>
                      </a: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M. et al., 2020. </a:t>
                      </a:r>
                      <a:r>
                        <a:rPr lang="en-US" sz="16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Continuous stress detection using wrist devices in real life Sensors.</a:t>
                      </a:r>
                      <a:endParaRPr lang="en-IN" sz="1600" b="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Objective: Real-time stress detection using smartwatch sensors.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Dataset: Physiological signals (EDA, HR, accelerometer).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Models: Deep neural networks.</a:t>
                      </a:r>
                    </a:p>
                    <a:p>
                      <a:pPr marL="0" indent="0" algn="just">
                        <a:buFont typeface="Arial" panose="020B0604020202020204" pitchFamily="34" charset="0"/>
                        <a:buNone/>
                      </a:pPr>
                      <a:endParaRPr lang="en-IN" sz="1600" b="0" i="0" u="none" strike="noStrike" cap="non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Arial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Improved accuracy over traditional ML.</a:t>
                      </a:r>
                      <a:r>
                        <a:rPr lang="en-IN" sz="1600" dirty="0"/>
                        <a:t> </a:t>
                      </a: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(82% accuracy)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Advantage: Real-time capability.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Limitation: Battery and noise sensitivity.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713823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623459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>
          <a:extLst>
            <a:ext uri="{FF2B5EF4-FFF2-40B4-BE49-F238E27FC236}">
              <a16:creationId xmlns:a16="http://schemas.microsoft.com/office/drawing/2014/main" id="{9AA71A5C-D5B8-A1F3-F057-FAD10FF717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">
            <a:extLst>
              <a:ext uri="{FF2B5EF4-FFF2-40B4-BE49-F238E27FC236}">
                <a16:creationId xmlns:a16="http://schemas.microsoft.com/office/drawing/2014/main" id="{8F36DCED-5778-D4ED-DED8-3E5EA1578F1D}"/>
              </a:ext>
            </a:extLst>
          </p:cNvPr>
          <p:cNvSpPr txBox="1"/>
          <p:nvPr/>
        </p:nvSpPr>
        <p:spPr>
          <a:xfrm>
            <a:off x="182252" y="67146"/>
            <a:ext cx="7569932" cy="4095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lang="en-IN" sz="3200" b="1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Literature Review</a:t>
            </a:r>
            <a:endParaRPr sz="3200" b="1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2">
            <a:extLst>
              <a:ext uri="{FF2B5EF4-FFF2-40B4-BE49-F238E27FC236}">
                <a16:creationId xmlns:a16="http://schemas.microsoft.com/office/drawing/2014/main" id="{FEA17260-6843-BB11-D598-DA2F4F80F1CF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Dept. of CSE(AI&amp;ML)</a:t>
            </a:r>
            <a:endParaRPr/>
          </a:p>
        </p:txBody>
      </p:sp>
      <p:sp>
        <p:nvSpPr>
          <p:cNvPr id="119" name="Google Shape;119;p2">
            <a:extLst>
              <a:ext uri="{FF2B5EF4-FFF2-40B4-BE49-F238E27FC236}">
                <a16:creationId xmlns:a16="http://schemas.microsoft.com/office/drawing/2014/main" id="{2DE01BE5-65C8-0BDE-F393-A92390D0FE7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5</a:t>
            </a:fld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2610017-F095-4EEF-3511-DE293C3830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81343" y="-39909"/>
            <a:ext cx="593629" cy="593629"/>
          </a:xfrm>
          <a:prstGeom prst="rect">
            <a:avLst/>
          </a:prstGeom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4854F9A-D817-AC4E-49EF-AF38D41298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562923"/>
              </p:ext>
            </p:extLst>
          </p:nvPr>
        </p:nvGraphicFramePr>
        <p:xfrm>
          <a:off x="381965" y="790786"/>
          <a:ext cx="11354764" cy="5455299"/>
        </p:xfrm>
        <a:graphic>
          <a:graphicData uri="http://schemas.openxmlformats.org/drawingml/2006/table">
            <a:tbl>
              <a:tblPr firstRow="1" bandRow="1">
                <a:tableStyleId>{D15894DF-9AC3-41A8-843B-C29A499DB286}</a:tableStyleId>
              </a:tblPr>
              <a:tblGrid>
                <a:gridCol w="891250">
                  <a:extLst>
                    <a:ext uri="{9D8B030D-6E8A-4147-A177-3AD203B41FA5}">
                      <a16:colId xmlns:a16="http://schemas.microsoft.com/office/drawing/2014/main" val="358493874"/>
                    </a:ext>
                  </a:extLst>
                </a:gridCol>
                <a:gridCol w="2361236">
                  <a:extLst>
                    <a:ext uri="{9D8B030D-6E8A-4147-A177-3AD203B41FA5}">
                      <a16:colId xmlns:a16="http://schemas.microsoft.com/office/drawing/2014/main" val="3355566687"/>
                    </a:ext>
                  </a:extLst>
                </a:gridCol>
                <a:gridCol w="4375230">
                  <a:extLst>
                    <a:ext uri="{9D8B030D-6E8A-4147-A177-3AD203B41FA5}">
                      <a16:colId xmlns:a16="http://schemas.microsoft.com/office/drawing/2014/main" val="3186896456"/>
                    </a:ext>
                  </a:extLst>
                </a:gridCol>
                <a:gridCol w="3727048">
                  <a:extLst>
                    <a:ext uri="{9D8B030D-6E8A-4147-A177-3AD203B41FA5}">
                      <a16:colId xmlns:a16="http://schemas.microsoft.com/office/drawing/2014/main" val="739950733"/>
                    </a:ext>
                  </a:extLst>
                </a:gridCol>
              </a:tblGrid>
              <a:tr h="852819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S.No</a:t>
                      </a:r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IN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Details of Paper</a:t>
                      </a:r>
                      <a:endParaRPr lang="en-IN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Objectives, Dataset used, Methodology/Models used</a:t>
                      </a:r>
                      <a:endParaRPr lang="en-IN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Results/Advantages/Limitations</a:t>
                      </a:r>
                      <a:endParaRPr lang="en-IN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76256550"/>
                  </a:ext>
                </a:extLst>
              </a:tr>
              <a:tr h="1829506"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IN" sz="18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Almadhor</a:t>
                      </a:r>
                      <a:r>
                        <a:rPr lang="en-IN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2025.</a:t>
                      </a:r>
                      <a:br>
                        <a:rPr lang="en-IN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IN" sz="1600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cross-domain framework for emotion and stress detection using WESAD, SCIENTISST-MOVE, and DREAMER datasets.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 develop a cross-domain deep learning framework for accurate emotion and stress detection across heterogeneous datasets.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Datasets used include WESAD, SCIENTISST-MOVE, and DREAMER, with multimodal deep learning and transfer learning techniques.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endParaRPr lang="en-US" sz="1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proposed framework improved generalization and accuracy across multiple datasets compared to single-domain models.</a:t>
                      </a:r>
                      <a:r>
                        <a:rPr lang="en-IN" sz="1600" b="1" dirty="0"/>
                        <a:t> </a:t>
                      </a:r>
                      <a:r>
                        <a:rPr lang="en-IN" sz="1600" b="0" dirty="0"/>
                        <a:t>(</a:t>
                      </a:r>
                      <a:r>
                        <a:rPr lang="en-IN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~85% to 92% accuracy)</a:t>
                      </a:r>
                      <a:endParaRPr lang="en-US" sz="16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Increased computational complexity and reduced performance when domain differences between datasets are large.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endParaRPr lang="en-IN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22125106"/>
                  </a:ext>
                </a:extLst>
              </a:tr>
              <a:tr h="1829506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IN" sz="16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Zhang, B., 2021.</a:t>
                      </a:r>
                      <a:br>
                        <a:rPr lang="en-US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1600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Research Progress of Multimodal Emotion Recognition Fusion Strategy</a:t>
                      </a:r>
                      <a:r>
                        <a:rPr lang="en-US" sz="1600" b="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 </a:t>
                      </a:r>
                      <a:endParaRPr lang="en-IN" sz="1600" b="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 review and analyze fusion strategies in multimodal emotion recognition, highlighting feature-level, decision-level, and hybrid fusion approaches.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Uses public multimodal datasets (audio, visual, physiological signals) and discusses machine learning and deep learning fusion models such as CNNs, RNNs, and attention mechanisms.</a:t>
                      </a:r>
                    </a:p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endParaRPr lang="en-IN" sz="1600" b="0" i="0" u="none" strike="noStrike" cap="non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Arial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Multimodal fusion significantly improves emotion recognition accuracy and robustness compared to unimodal systems.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Challenges include high computational complexity, data synchronization issues, and lack of standard fusion frameworks.</a:t>
                      </a:r>
                    </a:p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endParaRPr lang="en-IN" sz="16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713823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483280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>
          <a:extLst>
            <a:ext uri="{FF2B5EF4-FFF2-40B4-BE49-F238E27FC236}">
              <a16:creationId xmlns:a16="http://schemas.microsoft.com/office/drawing/2014/main" id="{492DC896-31E3-1C2F-869B-077A6F88C4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">
            <a:extLst>
              <a:ext uri="{FF2B5EF4-FFF2-40B4-BE49-F238E27FC236}">
                <a16:creationId xmlns:a16="http://schemas.microsoft.com/office/drawing/2014/main" id="{D6794462-EC2E-2B0A-DF2D-2DAA5BA96AD6}"/>
              </a:ext>
            </a:extLst>
          </p:cNvPr>
          <p:cNvSpPr txBox="1"/>
          <p:nvPr/>
        </p:nvSpPr>
        <p:spPr>
          <a:xfrm>
            <a:off x="182252" y="67146"/>
            <a:ext cx="7569932" cy="4095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lang="en-IN" sz="3200" b="1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Literature Review</a:t>
            </a:r>
            <a:endParaRPr sz="3200" b="1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2">
            <a:extLst>
              <a:ext uri="{FF2B5EF4-FFF2-40B4-BE49-F238E27FC236}">
                <a16:creationId xmlns:a16="http://schemas.microsoft.com/office/drawing/2014/main" id="{FBED05E9-E707-43BF-4A4E-7D970B8AA95B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Dept. of CSE(AI&amp;ML)</a:t>
            </a:r>
            <a:endParaRPr/>
          </a:p>
        </p:txBody>
      </p:sp>
      <p:sp>
        <p:nvSpPr>
          <p:cNvPr id="119" name="Google Shape;119;p2">
            <a:extLst>
              <a:ext uri="{FF2B5EF4-FFF2-40B4-BE49-F238E27FC236}">
                <a16:creationId xmlns:a16="http://schemas.microsoft.com/office/drawing/2014/main" id="{15773CD5-7E0D-6FF6-1C6B-0C0C20708BB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6</a:t>
            </a:fld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917F47B-C518-65BE-E474-84E8EF828F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81343" y="-39909"/>
            <a:ext cx="593629" cy="593629"/>
          </a:xfrm>
          <a:prstGeom prst="rect">
            <a:avLst/>
          </a:prstGeom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2B12BCC-88E6-6ED0-EE6A-57E97D1E61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5017701"/>
              </p:ext>
            </p:extLst>
          </p:nvPr>
        </p:nvGraphicFramePr>
        <p:xfrm>
          <a:off x="381965" y="790786"/>
          <a:ext cx="11354764" cy="5424819"/>
        </p:xfrm>
        <a:graphic>
          <a:graphicData uri="http://schemas.openxmlformats.org/drawingml/2006/table">
            <a:tbl>
              <a:tblPr firstRow="1" bandRow="1">
                <a:tableStyleId>{D15894DF-9AC3-41A8-843B-C29A499DB286}</a:tableStyleId>
              </a:tblPr>
              <a:tblGrid>
                <a:gridCol w="891250">
                  <a:extLst>
                    <a:ext uri="{9D8B030D-6E8A-4147-A177-3AD203B41FA5}">
                      <a16:colId xmlns:a16="http://schemas.microsoft.com/office/drawing/2014/main" val="358493874"/>
                    </a:ext>
                  </a:extLst>
                </a:gridCol>
                <a:gridCol w="2361236">
                  <a:extLst>
                    <a:ext uri="{9D8B030D-6E8A-4147-A177-3AD203B41FA5}">
                      <a16:colId xmlns:a16="http://schemas.microsoft.com/office/drawing/2014/main" val="3355566687"/>
                    </a:ext>
                  </a:extLst>
                </a:gridCol>
                <a:gridCol w="4375230">
                  <a:extLst>
                    <a:ext uri="{9D8B030D-6E8A-4147-A177-3AD203B41FA5}">
                      <a16:colId xmlns:a16="http://schemas.microsoft.com/office/drawing/2014/main" val="3186896456"/>
                    </a:ext>
                  </a:extLst>
                </a:gridCol>
                <a:gridCol w="3727048">
                  <a:extLst>
                    <a:ext uri="{9D8B030D-6E8A-4147-A177-3AD203B41FA5}">
                      <a16:colId xmlns:a16="http://schemas.microsoft.com/office/drawing/2014/main" val="739950733"/>
                    </a:ext>
                  </a:extLst>
                </a:gridCol>
              </a:tblGrid>
              <a:tr h="852819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S.No</a:t>
                      </a:r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IN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Details of Paper</a:t>
                      </a:r>
                      <a:endParaRPr lang="en-IN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Objectives, Dataset used, Methodology/Models used</a:t>
                      </a:r>
                      <a:endParaRPr lang="en-IN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Results/Advantages/Limitations</a:t>
                      </a:r>
                      <a:endParaRPr lang="en-IN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76256550"/>
                  </a:ext>
                </a:extLst>
              </a:tr>
              <a:tr h="1829506"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IN" sz="18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Cai, Y., Lin, D. and Lu, Q., 2019</a:t>
                      </a:r>
                      <a:r>
                        <a:rPr lang="en-US" sz="1600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 Comparison of different machine learning algorithms in the mental health assessment of college students</a:t>
                      </a:r>
                      <a:r>
                        <a:rPr lang="en-US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 IEEE Access.</a:t>
                      </a:r>
                      <a:endParaRPr lang="en-IN" sz="16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Assess mental health of college students using ML</a:t>
                      </a:r>
                      <a:b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Dataset: Questionnaire-based mental health survey data</a:t>
                      </a:r>
                      <a:b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Features: Anxiety, depression, stress indicators</a:t>
                      </a:r>
                      <a:b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Models: SVM, Random Forest, Decision Tree, KNN, Logistic Regression</a:t>
                      </a:r>
                      <a:endParaRPr lang="en-US" sz="16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Random Forest &amp; SVM showed highest accuracy</a:t>
                      </a:r>
                      <a:b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ML effective for mental health screening</a:t>
                      </a:r>
                      <a:b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Advantage: Simple and scalable approach</a:t>
                      </a:r>
                      <a:b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Limitation: Self-reported data, limited population</a:t>
                      </a:r>
                      <a:endParaRPr lang="en-IN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22125106"/>
                  </a:ext>
                </a:extLst>
              </a:tr>
              <a:tr h="1829506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en-IN" sz="16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Toshishige</a:t>
                      </a: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Y. </a:t>
                      </a:r>
                      <a:r>
                        <a:rPr lang="en-IN" sz="16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et al.</a:t>
                      </a: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2021</a:t>
                      </a:r>
                      <a:r>
                        <a:rPr lang="en-IN" sz="16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 Acceptability and efficacy of a smartphone application intervention for mental health care based on interpersonal psychotherapy for improving depression symptoms in prenatal women</a:t>
                      </a:r>
                      <a:endParaRPr lang="en-IN" sz="1600" b="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lang="en-IN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Evaluate acceptability and efficacy of a smartphone-based mental health app</a:t>
                      </a:r>
                      <a:br>
                        <a:rPr lang="en-IN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IN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Target group: Prenatal women with depressive symptoms</a:t>
                      </a:r>
                      <a:br>
                        <a:rPr lang="en-IN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IN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Dataset: Participants enrolled in a randomized controlled trial (RCT)</a:t>
                      </a:r>
                      <a:br>
                        <a:rPr lang="en-IN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IN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Methodology: Smartphone intervention based on Interpersonal Psychotherapy (IPT)</a:t>
                      </a:r>
                      <a:br>
                        <a:rPr lang="en-IN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endParaRPr lang="en-IN" sz="1600" b="0" i="0" u="none" strike="noStrike" cap="non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Arial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Outcome focus: Reduction in prenatal depression symptoms</a:t>
                      </a:r>
                      <a:b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Advantage: Scalable, accessible mental health intervention, Evidence-based IPT adapted to mobile platform</a:t>
                      </a:r>
                      <a:b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Limitation: Protocol paper – results not yet reported</a:t>
                      </a:r>
                      <a:b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endParaRPr lang="en-IN" sz="16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713823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120263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>
          <a:extLst>
            <a:ext uri="{FF2B5EF4-FFF2-40B4-BE49-F238E27FC236}">
              <a16:creationId xmlns:a16="http://schemas.microsoft.com/office/drawing/2014/main" id="{4DFF6EE9-C2AD-91C7-25B3-91AEF37851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">
            <a:extLst>
              <a:ext uri="{FF2B5EF4-FFF2-40B4-BE49-F238E27FC236}">
                <a16:creationId xmlns:a16="http://schemas.microsoft.com/office/drawing/2014/main" id="{480FADD1-DC29-12C7-BB8E-93613024E016}"/>
              </a:ext>
            </a:extLst>
          </p:cNvPr>
          <p:cNvSpPr txBox="1"/>
          <p:nvPr/>
        </p:nvSpPr>
        <p:spPr>
          <a:xfrm>
            <a:off x="182252" y="67146"/>
            <a:ext cx="7569932" cy="4095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lang="en-IN" sz="3200" b="1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Literature Review</a:t>
            </a:r>
            <a:endParaRPr sz="3200" b="1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2">
            <a:extLst>
              <a:ext uri="{FF2B5EF4-FFF2-40B4-BE49-F238E27FC236}">
                <a16:creationId xmlns:a16="http://schemas.microsoft.com/office/drawing/2014/main" id="{6452B359-272C-FAA0-31C4-B5B2347A2302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Dept. of CSE(AI&amp;ML)</a:t>
            </a:r>
            <a:endParaRPr/>
          </a:p>
        </p:txBody>
      </p:sp>
      <p:sp>
        <p:nvSpPr>
          <p:cNvPr id="119" name="Google Shape;119;p2">
            <a:extLst>
              <a:ext uri="{FF2B5EF4-FFF2-40B4-BE49-F238E27FC236}">
                <a16:creationId xmlns:a16="http://schemas.microsoft.com/office/drawing/2014/main" id="{0BD62ABF-B246-CEF0-FF1F-010FF9D71A2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7</a:t>
            </a:fld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BE151C6-9E42-28A5-D97B-DBE33743B7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81343" y="-39909"/>
            <a:ext cx="593629" cy="593629"/>
          </a:xfrm>
          <a:prstGeom prst="rect">
            <a:avLst/>
          </a:prstGeom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4CDDF06-D35F-10F2-9AD9-4B1B1D50F6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5614447"/>
              </p:ext>
            </p:extLst>
          </p:nvPr>
        </p:nvGraphicFramePr>
        <p:xfrm>
          <a:off x="381965" y="790786"/>
          <a:ext cx="11354764" cy="4968325"/>
        </p:xfrm>
        <a:graphic>
          <a:graphicData uri="http://schemas.openxmlformats.org/drawingml/2006/table">
            <a:tbl>
              <a:tblPr firstRow="1" bandRow="1">
                <a:tableStyleId>{D15894DF-9AC3-41A8-843B-C29A499DB286}</a:tableStyleId>
              </a:tblPr>
              <a:tblGrid>
                <a:gridCol w="891250">
                  <a:extLst>
                    <a:ext uri="{9D8B030D-6E8A-4147-A177-3AD203B41FA5}">
                      <a16:colId xmlns:a16="http://schemas.microsoft.com/office/drawing/2014/main" val="358493874"/>
                    </a:ext>
                  </a:extLst>
                </a:gridCol>
                <a:gridCol w="2361236">
                  <a:extLst>
                    <a:ext uri="{9D8B030D-6E8A-4147-A177-3AD203B41FA5}">
                      <a16:colId xmlns:a16="http://schemas.microsoft.com/office/drawing/2014/main" val="3355566687"/>
                    </a:ext>
                  </a:extLst>
                </a:gridCol>
                <a:gridCol w="4375230">
                  <a:extLst>
                    <a:ext uri="{9D8B030D-6E8A-4147-A177-3AD203B41FA5}">
                      <a16:colId xmlns:a16="http://schemas.microsoft.com/office/drawing/2014/main" val="3186896456"/>
                    </a:ext>
                  </a:extLst>
                </a:gridCol>
                <a:gridCol w="3727048">
                  <a:extLst>
                    <a:ext uri="{9D8B030D-6E8A-4147-A177-3AD203B41FA5}">
                      <a16:colId xmlns:a16="http://schemas.microsoft.com/office/drawing/2014/main" val="739950733"/>
                    </a:ext>
                  </a:extLst>
                </a:gridCol>
              </a:tblGrid>
              <a:tr h="852819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S.No</a:t>
                      </a:r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IN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Details of Paper</a:t>
                      </a:r>
                      <a:endParaRPr lang="en-IN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Objectives, Dataset used, Methodology/Models used</a:t>
                      </a:r>
                      <a:endParaRPr lang="en-IN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Results/Advantages/Limitations</a:t>
                      </a:r>
                      <a:endParaRPr lang="en-IN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76256550"/>
                  </a:ext>
                </a:extLst>
              </a:tr>
              <a:tr h="1829506"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en-IN" sz="18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Switzer, G.E., Dew, M.A. and </a:t>
                      </a:r>
                      <a:r>
                        <a:rPr lang="en-US" sz="1600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Bromet</a:t>
                      </a:r>
                      <a:r>
                        <a:rPr lang="en-US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E.J., 1999. </a:t>
                      </a:r>
                      <a:r>
                        <a:rPr lang="en-US" sz="1600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Issues in mental health assessment.</a:t>
                      </a:r>
                      <a:r>
                        <a:rPr lang="en-US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Psychiatric Services, 50(7), pp. 928–940.</a:t>
                      </a:r>
                      <a:endParaRPr lang="en-IN" sz="16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Discuss key challenges in mental health assessment</a:t>
                      </a:r>
                      <a:b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Focus on diagnostic accuracy and measurement reliability</a:t>
                      </a:r>
                      <a:b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Method: Conceptual and methodological review (no dataset)</a:t>
                      </a:r>
                      <a:endParaRPr lang="en-US" sz="16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Highlights limitations of existing assessment tools</a:t>
                      </a:r>
                      <a:b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Advantage: Identifies sources of bias and misclassification</a:t>
                      </a:r>
                      <a:b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Limitation: No empirical validation or computational models</a:t>
                      </a:r>
                      <a:endParaRPr lang="en-IN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22125106"/>
                  </a:ext>
                </a:extLst>
              </a:tr>
              <a:tr h="1829506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en-IN" sz="16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Paul, A., </a:t>
                      </a:r>
                      <a:r>
                        <a:rPr lang="en-US" sz="1600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Dhanushkodi</a:t>
                      </a:r>
                      <a:r>
                        <a:rPr lang="en-US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K. and Alphonse, S., 2023. </a:t>
                      </a:r>
                      <a:r>
                        <a:rPr lang="en-US" sz="1600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Mental Health Index (MHI): A personalized multi-task deep learning framework for real-time and explainable mental well-being assessment. </a:t>
                      </a:r>
                      <a:r>
                        <a:rPr lang="en-US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IEEE Access.</a:t>
                      </a:r>
                      <a:endParaRPr lang="en-IN" sz="16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Propose Mental Health Index (MHI) for real-time assessment</a:t>
                      </a:r>
                      <a:b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Dataset: Multimodal physiological and </a:t>
                      </a:r>
                      <a:r>
                        <a:rPr lang="en-IN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behavioral</a:t>
                      </a: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data</a:t>
                      </a:r>
                      <a:b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Method: Multi-task deep learning with personalization</a:t>
                      </a:r>
                      <a:b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Explainability using XAI techniques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Enables real-time and personalized mental health monitoring</a:t>
                      </a:r>
                      <a:b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Advantage: Explainable predictions improve trust</a:t>
                      </a:r>
                      <a:b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Limitation: Requires large labeled multimodal data</a:t>
                      </a:r>
                      <a:endParaRPr lang="en-IN" sz="16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713823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865279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>
          <a:extLst>
            <a:ext uri="{FF2B5EF4-FFF2-40B4-BE49-F238E27FC236}">
              <a16:creationId xmlns:a16="http://schemas.microsoft.com/office/drawing/2014/main" id="{BE37135F-737A-016A-1082-8E8F61CC68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">
            <a:extLst>
              <a:ext uri="{FF2B5EF4-FFF2-40B4-BE49-F238E27FC236}">
                <a16:creationId xmlns:a16="http://schemas.microsoft.com/office/drawing/2014/main" id="{79EC87E7-28A1-4376-3308-5832E7BB642F}"/>
              </a:ext>
            </a:extLst>
          </p:cNvPr>
          <p:cNvSpPr txBox="1"/>
          <p:nvPr/>
        </p:nvSpPr>
        <p:spPr>
          <a:xfrm>
            <a:off x="182252" y="67146"/>
            <a:ext cx="7569932" cy="4095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lang="en-IN" sz="3200" b="1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Literature Review</a:t>
            </a:r>
            <a:endParaRPr sz="3200" b="1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2">
            <a:extLst>
              <a:ext uri="{FF2B5EF4-FFF2-40B4-BE49-F238E27FC236}">
                <a16:creationId xmlns:a16="http://schemas.microsoft.com/office/drawing/2014/main" id="{CDE0A652-6E6C-E774-A68E-6492A192549A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Dept. of CSE(AI&amp;ML)</a:t>
            </a:r>
            <a:endParaRPr/>
          </a:p>
        </p:txBody>
      </p:sp>
      <p:sp>
        <p:nvSpPr>
          <p:cNvPr id="119" name="Google Shape;119;p2">
            <a:extLst>
              <a:ext uri="{FF2B5EF4-FFF2-40B4-BE49-F238E27FC236}">
                <a16:creationId xmlns:a16="http://schemas.microsoft.com/office/drawing/2014/main" id="{A5906FB7-5F60-6107-B541-9DD4DDF2D63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8</a:t>
            </a:fld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BA66204-9D9D-F65F-D0FB-67245B403A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81343" y="-39909"/>
            <a:ext cx="593629" cy="593629"/>
          </a:xfrm>
          <a:prstGeom prst="rect">
            <a:avLst/>
          </a:prstGeom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C74E005-8EAD-DC1B-7658-3B89028919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8732272"/>
              </p:ext>
            </p:extLst>
          </p:nvPr>
        </p:nvGraphicFramePr>
        <p:xfrm>
          <a:off x="381965" y="790786"/>
          <a:ext cx="11354764" cy="4511831"/>
        </p:xfrm>
        <a:graphic>
          <a:graphicData uri="http://schemas.openxmlformats.org/drawingml/2006/table">
            <a:tbl>
              <a:tblPr firstRow="1" bandRow="1">
                <a:tableStyleId>{D15894DF-9AC3-41A8-843B-C29A499DB286}</a:tableStyleId>
              </a:tblPr>
              <a:tblGrid>
                <a:gridCol w="891250">
                  <a:extLst>
                    <a:ext uri="{9D8B030D-6E8A-4147-A177-3AD203B41FA5}">
                      <a16:colId xmlns:a16="http://schemas.microsoft.com/office/drawing/2014/main" val="358493874"/>
                    </a:ext>
                  </a:extLst>
                </a:gridCol>
                <a:gridCol w="2361236">
                  <a:extLst>
                    <a:ext uri="{9D8B030D-6E8A-4147-A177-3AD203B41FA5}">
                      <a16:colId xmlns:a16="http://schemas.microsoft.com/office/drawing/2014/main" val="3355566687"/>
                    </a:ext>
                  </a:extLst>
                </a:gridCol>
                <a:gridCol w="4375230">
                  <a:extLst>
                    <a:ext uri="{9D8B030D-6E8A-4147-A177-3AD203B41FA5}">
                      <a16:colId xmlns:a16="http://schemas.microsoft.com/office/drawing/2014/main" val="3186896456"/>
                    </a:ext>
                  </a:extLst>
                </a:gridCol>
                <a:gridCol w="3727048">
                  <a:extLst>
                    <a:ext uri="{9D8B030D-6E8A-4147-A177-3AD203B41FA5}">
                      <a16:colId xmlns:a16="http://schemas.microsoft.com/office/drawing/2014/main" val="739950733"/>
                    </a:ext>
                  </a:extLst>
                </a:gridCol>
              </a:tblGrid>
              <a:tr h="852819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S.No</a:t>
                      </a:r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IN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Details of Paper</a:t>
                      </a:r>
                      <a:endParaRPr lang="en-IN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Objectives, Dataset used, Methodology/Models used</a:t>
                      </a:r>
                      <a:endParaRPr lang="en-IN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Results/Advantages/Limitations</a:t>
                      </a:r>
                      <a:endParaRPr lang="en-IN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76256550"/>
                  </a:ext>
                </a:extLst>
              </a:tr>
              <a:tr h="1829506"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en-IN" sz="18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Zhu, M., 2020</a:t>
                      </a:r>
                      <a:r>
                        <a:rPr lang="en-US" sz="16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 Big Data Driven Mental Health Assessment Model for College Students</a:t>
                      </a:r>
                      <a:r>
                        <a:rPr lang="en-US" sz="1600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 </a:t>
                      </a:r>
                      <a:r>
                        <a:rPr lang="en-US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Journal of Healthcare Engineering.</a:t>
                      </a:r>
                      <a:endParaRPr lang="en-IN" sz="16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Develop big-data-based mental health assessment model</a:t>
                      </a:r>
                      <a:b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Dataset: College student psychological and </a:t>
                      </a:r>
                      <a:r>
                        <a:rPr lang="en-IN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behavioral</a:t>
                      </a: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data</a:t>
                      </a:r>
                      <a:b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Method: Data mining + machine learning classification models</a:t>
                      </a:r>
                      <a:b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Feature extraction from large-scale student data</a:t>
                      </a:r>
                      <a:endParaRPr lang="en-US" sz="16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Improved prediction accuracy over traditional methods</a:t>
                      </a:r>
                      <a:b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Advantage: Handles large-scale student data efficiently</a:t>
                      </a:r>
                      <a:b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Limitation: Data privacy concerns and limited generalization</a:t>
                      </a:r>
                      <a:endParaRPr lang="en-IN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22125106"/>
                  </a:ext>
                </a:extLst>
              </a:tr>
              <a:tr h="1829506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en-IN" sz="16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Chen, Y. </a:t>
                      </a:r>
                      <a:r>
                        <a:rPr lang="en-IN" sz="16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et al.</a:t>
                      </a: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2024. </a:t>
                      </a:r>
                      <a:r>
                        <a:rPr lang="en-IN" sz="16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Foundation models for physiological signal-based mental stress prediction</a:t>
                      </a: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 </a:t>
                      </a:r>
                      <a:r>
                        <a:rPr lang="en-IN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Nature Digital Medicine</a:t>
                      </a: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IN" sz="16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Propose foundation models for stress prediction</a:t>
                      </a:r>
                      <a:b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Dataset: Large-scale physiological signals (ECG, PPG, GSR)</a:t>
                      </a:r>
                      <a:b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Method: Pretrained foundation models with transfer learning</a:t>
                      </a:r>
                      <a:endParaRPr lang="en-IN" sz="1600" b="0" i="0" u="none" strike="noStrike" cap="non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Arial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Improves cross-dataset stress prediction accuracy</a:t>
                      </a:r>
                      <a:b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Advantage: Strong generalization with limited labels</a:t>
                      </a:r>
                      <a:b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Limitation: High computational and data requirements</a:t>
                      </a:r>
                      <a:endParaRPr lang="en-IN" sz="16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713823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395893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"/>
          <p:cNvSpPr txBox="1"/>
          <p:nvPr/>
        </p:nvSpPr>
        <p:spPr>
          <a:xfrm>
            <a:off x="119336" y="67146"/>
            <a:ext cx="7569932" cy="4095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lang="en-IN" sz="3200" b="1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Dataset </a:t>
            </a:r>
            <a:endParaRPr sz="3200" b="1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3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Dept. of CSE(AI&amp;ML)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3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9</a:t>
            </a:fld>
            <a:endParaRPr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BD22C85-7E0D-A16F-5C23-AD60663685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81343" y="-39909"/>
            <a:ext cx="593629" cy="593629"/>
          </a:xfrm>
          <a:prstGeom prst="rect">
            <a:avLst/>
          </a:prstGeom>
        </p:spPr>
      </p:pic>
      <p:sp>
        <p:nvSpPr>
          <p:cNvPr id="7" name="Google Shape;120;p2">
            <a:extLst>
              <a:ext uri="{FF2B5EF4-FFF2-40B4-BE49-F238E27FC236}">
                <a16:creationId xmlns:a16="http://schemas.microsoft.com/office/drawing/2014/main" id="{AD87F6ED-365F-1F1F-FDF1-E71AAE7DF973}"/>
              </a:ext>
            </a:extLst>
          </p:cNvPr>
          <p:cNvSpPr txBox="1"/>
          <p:nvPr/>
        </p:nvSpPr>
        <p:spPr>
          <a:xfrm>
            <a:off x="831850" y="1065530"/>
            <a:ext cx="10880725" cy="1723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dataset consists of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multimodal data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collected for mental health and stress analysis.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contains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anonymous responses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includes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physiological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behavioral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psychological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 sources.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Responses are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time-stamped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supporting temporal analysis.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Participants belong to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 age groups and living conditions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enabling diversity in stress patterns.</a:t>
            </a:r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</a:pPr>
            <a:endParaRPr lang="en-US" sz="1600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CFC66DC1-AB97-56E3-9662-A9F50F34A9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563" y="2517057"/>
            <a:ext cx="6136640" cy="361401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061940A3-01E3-EE20-2EA5-02981D43750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3203" y="2517056"/>
            <a:ext cx="5466080" cy="361401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6E18309-522A-A692-B8CF-393487E5B46F}"/>
              </a:ext>
            </a:extLst>
          </p:cNvPr>
          <p:cNvSpPr txBox="1"/>
          <p:nvPr/>
        </p:nvSpPr>
        <p:spPr>
          <a:xfrm>
            <a:off x="846470" y="6131074"/>
            <a:ext cx="611566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Fig.</a:t>
            </a:r>
            <a:r>
              <a:rPr lang="en-US" dirty="0"/>
              <a:t> </a:t>
            </a:r>
            <a:r>
              <a:rPr lang="en-US" i="1" dirty="0"/>
              <a:t>Sample Google Form survey responses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CB20C3-0BFA-06F2-AC62-279563D9F585}"/>
              </a:ext>
            </a:extLst>
          </p:cNvPr>
          <p:cNvSpPr txBox="1"/>
          <p:nvPr/>
        </p:nvSpPr>
        <p:spPr>
          <a:xfrm>
            <a:off x="7323511" y="6135786"/>
            <a:ext cx="611566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Fig.</a:t>
            </a:r>
            <a:r>
              <a:rPr lang="en-IN" dirty="0"/>
              <a:t> </a:t>
            </a:r>
            <a:r>
              <a:rPr lang="en-IN" i="1" dirty="0"/>
              <a:t>Respondents’ age distribution.</a:t>
            </a:r>
            <a:endParaRPr lang="en-IN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>
          <a:extLst>
            <a:ext uri="{FF2B5EF4-FFF2-40B4-BE49-F238E27FC236}">
              <a16:creationId xmlns:a16="http://schemas.microsoft.com/office/drawing/2014/main" id="{D3228FED-0829-AAF6-C061-345E830C18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">
            <a:extLst>
              <a:ext uri="{FF2B5EF4-FFF2-40B4-BE49-F238E27FC236}">
                <a16:creationId xmlns:a16="http://schemas.microsoft.com/office/drawing/2014/main" id="{4A6F169A-ADC8-EF64-0572-F00D46742F63}"/>
              </a:ext>
            </a:extLst>
          </p:cNvPr>
          <p:cNvSpPr txBox="1"/>
          <p:nvPr/>
        </p:nvSpPr>
        <p:spPr>
          <a:xfrm>
            <a:off x="119336" y="67146"/>
            <a:ext cx="7569932" cy="4095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lang="en-IN" sz="3200" b="1" dirty="0">
                <a:solidFill>
                  <a:schemeClr val="l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Methodology</a:t>
            </a:r>
            <a:endParaRPr sz="3200" b="1" dirty="0">
              <a:solidFill>
                <a:schemeClr val="lt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sp>
        <p:nvSpPr>
          <p:cNvPr id="128" name="Google Shape;128;p3">
            <a:extLst>
              <a:ext uri="{FF2B5EF4-FFF2-40B4-BE49-F238E27FC236}">
                <a16:creationId xmlns:a16="http://schemas.microsoft.com/office/drawing/2014/main" id="{58D43880-3461-A7A3-C426-CBCA5584F55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10</a:t>
            </a:fld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503B940-B638-9AD7-E6EE-FC9723D6DF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81343" y="-39909"/>
            <a:ext cx="593629" cy="59362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0339C4F-39ED-485D-5CE6-6BD4C1F30A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84167" y="553720"/>
            <a:ext cx="5953433" cy="592573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9DB6BFA-CAD1-534D-9C72-45A13350E95E}"/>
              </a:ext>
            </a:extLst>
          </p:cNvPr>
          <p:cNvSpPr txBox="1"/>
          <p:nvPr/>
        </p:nvSpPr>
        <p:spPr>
          <a:xfrm>
            <a:off x="3571628" y="6444477"/>
            <a:ext cx="611566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/>
              <a:t>Figure 4.3: Methodology Flowchart of the Proposed System</a:t>
            </a:r>
            <a:endParaRPr lang="en-IN" sz="1200" b="1" dirty="0"/>
          </a:p>
        </p:txBody>
      </p:sp>
    </p:spTree>
    <p:extLst>
      <p:ext uri="{BB962C8B-B14F-4D97-AF65-F5344CB8AC3E}">
        <p14:creationId xmlns:p14="http://schemas.microsoft.com/office/powerpoint/2010/main" val="27949627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2F587F-6F04-2C2E-8A04-55E15708D4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909" y="-1"/>
            <a:ext cx="4011084" cy="831273"/>
          </a:xfrm>
        </p:spPr>
        <p:txBody>
          <a:bodyPr/>
          <a:lstStyle/>
          <a:p>
            <a:r>
              <a:rPr lang="en-US" sz="3200" dirty="0">
                <a:solidFill>
                  <a:schemeClr val="lt1"/>
                </a:solidFill>
              </a:rPr>
              <a:t>Results</a:t>
            </a:r>
            <a:br>
              <a:rPr lang="en-US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5A64A2-A89B-CF9A-A056-44C9B99EC2EB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307147" y="1454728"/>
            <a:ext cx="6422893" cy="4586050"/>
          </a:xfrm>
        </p:spPr>
        <p:txBody>
          <a:bodyPr/>
          <a:lstStyle/>
          <a:p>
            <a:pPr marL="514350" indent="-285750" algn="just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mental well-being category (Very Poor, Poor, Average, Good, Excellent) has an equal share of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20%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514350" indent="-285750" algn="just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dataset is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perfectly balanced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avoiding bias toward any single class.</a:t>
            </a:r>
          </a:p>
          <a:p>
            <a:pPr marL="514350" indent="-285750" algn="just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balanced distribution helps improve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accuracy and fair predictions</a:t>
            </a:r>
            <a:r>
              <a:rPr lang="en-US" dirty="0"/>
              <a:t>.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34AFAA-C7E9-6A6B-AEB6-ACB5A834547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11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55BB4D3-3492-F87D-4506-D267F37833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0041" y="1649266"/>
            <a:ext cx="5461960" cy="3881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59667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D7002F-3E2E-41C8-FB04-6242D1C99976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332509" y="1560513"/>
            <a:ext cx="5455228" cy="4565650"/>
          </a:xfrm>
        </p:spPr>
        <p:txBody>
          <a:bodyPr/>
          <a:lstStyle/>
          <a:p>
            <a:pPr algn="just">
              <a:buSzPct val="100000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Working professionals show the highest stress levels across all categories, indicating greater workload and pressure. </a:t>
            </a:r>
          </a:p>
          <a:p>
            <a:pPr algn="just">
              <a:buSzPct val="100000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also experience significant stress, with consistently high counts across different stress frequencies. </a:t>
            </a:r>
          </a:p>
          <a:p>
            <a:pPr algn="just">
              <a:buSzPct val="100000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Other groups (self-employed, not working, others) show comparatively lower stress levels, suggesting varying lifestyle impacts. </a:t>
            </a:r>
          </a:p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0F8421-0B35-20DC-BF7A-17C7E009FE9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12</a:t>
            </a:fld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7FD7BB8-508D-9A7D-EC1F-9E9856EEF1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7737" y="1291648"/>
            <a:ext cx="5794662" cy="456565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4543131-B52D-38B9-5A63-49DABA28C146}"/>
              </a:ext>
            </a:extLst>
          </p:cNvPr>
          <p:cNvSpPr txBox="1"/>
          <p:nvPr/>
        </p:nvSpPr>
        <p:spPr>
          <a:xfrm>
            <a:off x="95249" y="0"/>
            <a:ext cx="609426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l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Results</a:t>
            </a:r>
            <a:endParaRPr lang="en-IN" sz="32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08413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2D916B-B6A4-3BE1-73C8-0295EAA2260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13</a:t>
            </a:fld>
            <a:endParaRPr lang="en-IN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5243A5B1-DC1F-A048-80C5-32851BA440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1639" y="1142999"/>
            <a:ext cx="5525170" cy="4983163"/>
          </a:xfrm>
          <a:prstGeom prst="rect">
            <a:avLst/>
          </a:prstGeom>
        </p:spPr>
      </p:pic>
      <p:sp>
        <p:nvSpPr>
          <p:cNvPr id="19" name="Rectangle 15">
            <a:extLst>
              <a:ext uri="{FF2B5EF4-FFF2-40B4-BE49-F238E27FC236}">
                <a16:creationId xmlns:a16="http://schemas.microsoft.com/office/drawing/2014/main" id="{794C5305-B6C4-4B17-60B6-A4FB75A7F99B}"/>
              </a:ext>
            </a:extLst>
          </p:cNvPr>
          <p:cNvSpPr>
            <a:spLocks noGrp="1" noChangeArrowheads="1"/>
          </p:cNvSpPr>
          <p:nvPr>
            <p:ph type="body" idx="2"/>
          </p:nvPr>
        </p:nvSpPr>
        <p:spPr bwMode="auto">
          <a:xfrm>
            <a:off x="238991" y="1702880"/>
            <a:ext cx="5950527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model achieved an overall accuracy of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87.5%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indicating strong predictive performance. 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Classes like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Poor and Excellent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show higher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precision and recall (~0.93–0.94), meaning better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classification reliability. 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Overall balanced metrics (precision, recall, F1 ≈ 0.88)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indicate the model performs consistently across all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well-being categories. 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368E026-F4D5-0BAF-FBC7-D7CBF52CEEE7}"/>
              </a:ext>
            </a:extLst>
          </p:cNvPr>
          <p:cNvSpPr txBox="1"/>
          <p:nvPr/>
        </p:nvSpPr>
        <p:spPr>
          <a:xfrm>
            <a:off x="95250" y="0"/>
            <a:ext cx="6094268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l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Results</a:t>
            </a:r>
            <a:br>
              <a:rPr lang="en-US" sz="3200" b="1" dirty="0">
                <a:solidFill>
                  <a:schemeClr val="l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</a:br>
            <a:endParaRPr lang="en-IN" sz="32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10703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B1C0A4-FFA6-CCC8-105E-6E5FC9805EA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14</a:t>
            </a:fld>
            <a:endParaRPr lang="en-IN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8F771EB-3DAE-138F-59A3-BA191ACB06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879764"/>
            <a:ext cx="5732319" cy="5447722"/>
          </a:xfrm>
          <a:prstGeom prst="rect">
            <a:avLst/>
          </a:prstGeom>
        </p:spPr>
      </p:pic>
      <p:sp>
        <p:nvSpPr>
          <p:cNvPr id="13" name="Rectangle 6">
            <a:extLst>
              <a:ext uri="{FF2B5EF4-FFF2-40B4-BE49-F238E27FC236}">
                <a16:creationId xmlns:a16="http://schemas.microsoft.com/office/drawing/2014/main" id="{E99012C4-8424-0782-F984-5938F3A6631B}"/>
              </a:ext>
            </a:extLst>
          </p:cNvPr>
          <p:cNvSpPr>
            <a:spLocks noGrp="1" noChangeArrowheads="1"/>
          </p:cNvSpPr>
          <p:nvPr>
            <p:ph type="body" idx="2"/>
          </p:nvPr>
        </p:nvSpPr>
        <p:spPr bwMode="auto">
          <a:xfrm>
            <a:off x="245485" y="1652919"/>
            <a:ext cx="5732319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confusion matrix shows strong diagonal values, indicating most predictions are correct across all well-being categories. 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Misclassifications mainly occur between neighboring classes (e.g., Poor ↔ Average, Good ↔ Excellent), showing slight overlap in similar states. 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Extreme categories (Very Poor and Excellent) are predicted with higher accuracy and fewer errors compared to middle categories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F0625A9-7BAD-F68C-47C8-967CF65D410F}"/>
              </a:ext>
            </a:extLst>
          </p:cNvPr>
          <p:cNvSpPr txBox="1"/>
          <p:nvPr/>
        </p:nvSpPr>
        <p:spPr>
          <a:xfrm>
            <a:off x="127288" y="-8095"/>
            <a:ext cx="6094268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l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Results</a:t>
            </a:r>
            <a:br>
              <a:rPr lang="en-US" sz="3200" b="1" dirty="0">
                <a:solidFill>
                  <a:schemeClr val="l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</a:br>
            <a:endParaRPr lang="en-IN" sz="32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18851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F3AC3F-0EA1-018F-B7CA-D66EB1BDF1B2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253999" y="1290493"/>
            <a:ext cx="4858328" cy="4887626"/>
          </a:xfrm>
        </p:spPr>
        <p:txBody>
          <a:bodyPr/>
          <a:lstStyle/>
          <a:p>
            <a:pPr marL="514350" indent="-285750" algn="just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model predicts the user (Jordan) falls under the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POOR mental well-being category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indicating a need for attention and improvement. </a:t>
            </a:r>
          </a:p>
          <a:p>
            <a:pPr marL="514350" indent="-285750" algn="just">
              <a:buFont typeface="Arial" panose="020B0604020202020204" pitchFamily="34" charset="0"/>
              <a:buChar char="•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 Index and Loneliness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the most influential factors, showing strong impact on the prediction. </a:t>
            </a:r>
          </a:p>
          <a:p>
            <a:pPr marL="514350" indent="-285750" algn="just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Other contributing factors like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Calmness, Stress Frequency, and Resilience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also play a role but with comparatively lower influence. </a:t>
            </a:r>
          </a:p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675721-65C5-7B79-FEFA-FD075CA23FD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15</a:t>
            </a:fld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D7C6344-C571-4D8C-BD19-7C97EAC830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0855" y="1290493"/>
            <a:ext cx="6313489" cy="92277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44107C0-7106-1409-DFA2-D0C8D7B692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4511" y="2640735"/>
            <a:ext cx="6313489" cy="336319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AF24971-E368-0FE1-ECAD-C80487E7B3E4}"/>
              </a:ext>
            </a:extLst>
          </p:cNvPr>
          <p:cNvSpPr txBox="1"/>
          <p:nvPr/>
        </p:nvSpPr>
        <p:spPr>
          <a:xfrm>
            <a:off x="108526" y="0"/>
            <a:ext cx="6094268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l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Results</a:t>
            </a:r>
            <a:br>
              <a:rPr lang="en-US" sz="3200" b="1" dirty="0">
                <a:solidFill>
                  <a:schemeClr val="l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</a:br>
            <a:endParaRPr lang="en-IN" sz="32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63218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>
          <a:extLst>
            <a:ext uri="{FF2B5EF4-FFF2-40B4-BE49-F238E27FC236}">
              <a16:creationId xmlns:a16="http://schemas.microsoft.com/office/drawing/2014/main" id="{07ED4D38-D385-C1B1-D458-8E6FC8677C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5">
            <a:extLst>
              <a:ext uri="{FF2B5EF4-FFF2-40B4-BE49-F238E27FC236}">
                <a16:creationId xmlns:a16="http://schemas.microsoft.com/office/drawing/2014/main" id="{20891438-10CA-B654-437C-CC76AC469BF1}"/>
              </a:ext>
            </a:extLst>
          </p:cNvPr>
          <p:cNvSpPr txBox="1"/>
          <p:nvPr/>
        </p:nvSpPr>
        <p:spPr>
          <a:xfrm>
            <a:off x="119380" y="67310"/>
            <a:ext cx="8895715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lang="en-IN" sz="3200" b="1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Conclusions</a:t>
            </a:r>
            <a:endParaRPr sz="3200" b="1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5">
            <a:extLst>
              <a:ext uri="{FF2B5EF4-FFF2-40B4-BE49-F238E27FC236}">
                <a16:creationId xmlns:a16="http://schemas.microsoft.com/office/drawing/2014/main" id="{4339AB9B-DF4C-40D5-41CD-2605A13E4FAB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Dept. of CSE(AI&amp;ML)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5">
            <a:extLst>
              <a:ext uri="{FF2B5EF4-FFF2-40B4-BE49-F238E27FC236}">
                <a16:creationId xmlns:a16="http://schemas.microsoft.com/office/drawing/2014/main" id="{99290AB3-080E-02F5-6A27-3FD5F1732FC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16</a:t>
            </a:fld>
            <a:endParaRPr/>
          </a:p>
        </p:txBody>
      </p:sp>
      <p:sp>
        <p:nvSpPr>
          <p:cNvPr id="169" name="Google Shape;169;p5">
            <a:extLst>
              <a:ext uri="{FF2B5EF4-FFF2-40B4-BE49-F238E27FC236}">
                <a16:creationId xmlns:a16="http://schemas.microsoft.com/office/drawing/2014/main" id="{D704FEC7-605D-9D94-516B-315367AF3F41}"/>
              </a:ext>
            </a:extLst>
          </p:cNvPr>
          <p:cNvSpPr txBox="1"/>
          <p:nvPr/>
        </p:nvSpPr>
        <p:spPr>
          <a:xfrm>
            <a:off x="688257" y="823767"/>
            <a:ext cx="10375869" cy="43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92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AutoNum type="arabicPeriod"/>
            </a:pPr>
            <a:endParaRPr sz="19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6011930-4023-BFA8-8CFA-1DD96973D9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81343" y="-39909"/>
            <a:ext cx="593629" cy="593629"/>
          </a:xfrm>
          <a:prstGeom prst="rect">
            <a:avLst/>
          </a:prstGeom>
        </p:spPr>
      </p:pic>
      <p:sp>
        <p:nvSpPr>
          <p:cNvPr id="4" name="Google Shape;169;p5">
            <a:extLst>
              <a:ext uri="{FF2B5EF4-FFF2-40B4-BE49-F238E27FC236}">
                <a16:creationId xmlns:a16="http://schemas.microsoft.com/office/drawing/2014/main" id="{AAED0D85-9C92-4A36-CC14-28787E641A9A}"/>
              </a:ext>
            </a:extLst>
          </p:cNvPr>
          <p:cNvSpPr txBox="1"/>
          <p:nvPr/>
        </p:nvSpPr>
        <p:spPr>
          <a:xfrm>
            <a:off x="688257" y="1007918"/>
            <a:ext cx="10695418" cy="5164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 successfully integrates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and Generative AI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accurately classify mental well-being, achieving a strong performance with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87.5% accuracy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model demonstrates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consistent and balanced performance across all well-being categories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ensuring fair and reliable predictions without bias toward any specific class.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 reveals that key factors like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stress frequency, sleep quality, and social support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play a critical role in determining an individual’s mental health status.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integration of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GenAI (Gemini)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enhances the system by providing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personalized, human-like recommendations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making the solution more user-centric and impactful.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Overall, the system serves as a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scalable and intelligent mental health support tool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enabling early detection, informed decision-making, and proactive intervention for improved well-being. </a:t>
            </a:r>
          </a:p>
          <a:p>
            <a:pPr marL="393700" lvl="0" indent="-285750">
              <a:lnSpc>
                <a:spcPct val="150000"/>
              </a:lnSpc>
              <a:buSzPts val="1900"/>
              <a:buFont typeface="Arial" panose="020B0604020202020204" pitchFamily="34" charset="0"/>
              <a:buChar char="•"/>
            </a:pPr>
            <a:endParaRPr sz="1600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3617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>
          <a:extLst>
            <a:ext uri="{FF2B5EF4-FFF2-40B4-BE49-F238E27FC236}">
              <a16:creationId xmlns:a16="http://schemas.microsoft.com/office/drawing/2014/main" id="{B2E4C04C-FF92-F800-7268-B862F66633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5">
            <a:extLst>
              <a:ext uri="{FF2B5EF4-FFF2-40B4-BE49-F238E27FC236}">
                <a16:creationId xmlns:a16="http://schemas.microsoft.com/office/drawing/2014/main" id="{71E885C2-EBB0-F0E1-CCC6-A24C9085CFD9}"/>
              </a:ext>
            </a:extLst>
          </p:cNvPr>
          <p:cNvSpPr txBox="1"/>
          <p:nvPr/>
        </p:nvSpPr>
        <p:spPr>
          <a:xfrm>
            <a:off x="119380" y="67310"/>
            <a:ext cx="8895715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lang="en-IN" sz="3200" b="1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References</a:t>
            </a:r>
            <a:endParaRPr sz="3200" b="1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5">
            <a:extLst>
              <a:ext uri="{FF2B5EF4-FFF2-40B4-BE49-F238E27FC236}">
                <a16:creationId xmlns:a16="http://schemas.microsoft.com/office/drawing/2014/main" id="{76AFA198-9FAF-FD0E-3427-F6297FDAF46E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Dept. of CSE(AI&amp;ML)</a:t>
            </a: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8" name="Google Shape;168;p5">
            <a:extLst>
              <a:ext uri="{FF2B5EF4-FFF2-40B4-BE49-F238E27FC236}">
                <a16:creationId xmlns:a16="http://schemas.microsoft.com/office/drawing/2014/main" id="{2F28ED44-3EC3-DA96-909C-4394415BC8D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17</a:t>
            </a:fld>
            <a:endParaRPr/>
          </a:p>
        </p:txBody>
      </p:sp>
      <p:sp>
        <p:nvSpPr>
          <p:cNvPr id="169" name="Google Shape;169;p5">
            <a:extLst>
              <a:ext uri="{FF2B5EF4-FFF2-40B4-BE49-F238E27FC236}">
                <a16:creationId xmlns:a16="http://schemas.microsoft.com/office/drawing/2014/main" id="{135EAEAA-7FAB-B0DF-5A70-3FA2A03FE53E}"/>
              </a:ext>
            </a:extLst>
          </p:cNvPr>
          <p:cNvSpPr txBox="1"/>
          <p:nvPr/>
        </p:nvSpPr>
        <p:spPr>
          <a:xfrm>
            <a:off x="772375" y="1132475"/>
            <a:ext cx="10458900" cy="43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92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AutoNum type="arabicPeriod"/>
            </a:pPr>
            <a:endParaRPr sz="19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0499D46-CB2A-771F-3F94-D25F49479A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81343" y="-39909"/>
            <a:ext cx="593629" cy="593629"/>
          </a:xfrm>
          <a:prstGeom prst="rect">
            <a:avLst/>
          </a:prstGeom>
        </p:spPr>
      </p:pic>
      <p:sp>
        <p:nvSpPr>
          <p:cNvPr id="4" name="Google Shape;169;p5">
            <a:extLst>
              <a:ext uri="{FF2B5EF4-FFF2-40B4-BE49-F238E27FC236}">
                <a16:creationId xmlns:a16="http://schemas.microsoft.com/office/drawing/2014/main" id="{823A134D-3AA1-8C29-539C-0C8BA332E27C}"/>
              </a:ext>
            </a:extLst>
          </p:cNvPr>
          <p:cNvSpPr txBox="1"/>
          <p:nvPr/>
        </p:nvSpPr>
        <p:spPr>
          <a:xfrm>
            <a:off x="516071" y="764013"/>
            <a:ext cx="10903553" cy="4961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0850" lvl="0" indent="-342900">
              <a:buSzPts val="1900"/>
              <a:buFont typeface="+mj-lt"/>
              <a:buAutoNum type="arabicPeriod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Sano, A. and Picard, R.W., 2020.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Stress recognition using wearable sensors and contextual data. </a:t>
            </a: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Journal of Biomedical and Health Informatics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24(3), pp. 1–10.</a:t>
            </a:r>
          </a:p>
          <a:p>
            <a:pPr marL="450850" lvl="0" indent="-342900">
              <a:buSzPts val="1900"/>
              <a:buFont typeface="+mj-lt"/>
              <a:buAutoNum type="arabicPeriod"/>
            </a:pP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Gjoreski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M.,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Gjoreski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H.,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Luštrek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M. and Gams, M., 2020.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Continuous stress detection using wrist devices in real life. </a:t>
            </a: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Sensors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20(2), pp. 1–15.</a:t>
            </a:r>
          </a:p>
          <a:p>
            <a:pPr marL="450850" lvl="0" indent="-342900">
              <a:buSzPts val="1900"/>
              <a:buFont typeface="+mj-lt"/>
              <a:buAutoNum type="arabicPeriod"/>
            </a:pP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Almadhor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A., 2025.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cross-domain framework for emotion and stress detection using WESAD, SCIENTISST-MOVE, and DREAMER datasets. </a:t>
            </a: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Access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0850" lvl="0" indent="-342900">
              <a:buSzPts val="1900"/>
              <a:buFont typeface="+mj-lt"/>
              <a:buAutoNum type="arabicPeriod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Zhang, B., 2021.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progress of multimodal emotion recognition fusion strategy. </a:t>
            </a: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Information Fusion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68, pp. 1–12.</a:t>
            </a:r>
          </a:p>
          <a:p>
            <a:pPr marL="450850" lvl="0" indent="-342900">
              <a:buSzPts val="1900"/>
              <a:buFont typeface="+mj-lt"/>
              <a:buAutoNum type="arabicPeriod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Cai, Y., Lin, D. and Lu, Q., 2019.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Comparison of different machine learning algorithms in the mental health assessment of college students. </a:t>
            </a: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Access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7, pp. 12345–12358.</a:t>
            </a:r>
          </a:p>
          <a:p>
            <a:pPr marL="450850" indent="-342900">
              <a:buSzPts val="1900"/>
              <a:buFont typeface="+mj-lt"/>
              <a:buAutoNum type="arabicPeriod"/>
            </a:pPr>
            <a:r>
              <a:rPr lang="en-IN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Toshishige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Y., </a:t>
            </a:r>
            <a:r>
              <a:rPr lang="en-IN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Chatani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N., Kawasaki, S., Goto, S., Yoshida, Y., Takahashi, Y., Shimasaki, M., Okami, T., Sakaguchi, G., Furukawa, T.A., Mizushima, H. and Akechi, T., 2021.</a:t>
            </a:r>
            <a:b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Acceptability and efficacy of a smartphone application intervention for mental health care based on interpersonal psychotherapy for improving depression symptoms in prenatal women: Protocol for a randomized controlled trial. </a:t>
            </a:r>
            <a:r>
              <a:rPr lang="en-I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Internet Interventions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24, pp. 1–8.</a:t>
            </a:r>
          </a:p>
          <a:p>
            <a:pPr marL="450850" lvl="0" indent="-342900">
              <a:buSzPts val="1900"/>
              <a:buFont typeface="+mj-lt"/>
              <a:buAutoNum type="arabicPeriod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Switzer, G.E., Dew, M.A. and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Bromet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E.J., 1999.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Issues in mental health assessment. </a:t>
            </a: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Psychiatric Services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50(7), pp. 928–940</a:t>
            </a:r>
          </a:p>
          <a:p>
            <a:pPr marL="107950" lvl="0">
              <a:lnSpc>
                <a:spcPct val="150000"/>
              </a:lnSpc>
              <a:buSzPts val="1900"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8317340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BC62FB6-F94C-9BBE-FC7D-EF19380CDA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657609" cy="519544"/>
          </a:xfrm>
        </p:spPr>
        <p:txBody>
          <a:bodyPr/>
          <a:lstStyle/>
          <a:p>
            <a:pPr algn="l"/>
            <a:r>
              <a:rPr lang="en-US" sz="32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References</a:t>
            </a:r>
            <a:endParaRPr lang="en-IN" sz="32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2E8E31-3DF9-7BC6-3F17-3EC2900457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54626" y="1143001"/>
            <a:ext cx="10927773" cy="4983164"/>
          </a:xfrm>
        </p:spPr>
        <p:txBody>
          <a:bodyPr/>
          <a:lstStyle/>
          <a:p>
            <a:pPr>
              <a:buSzPct val="100000"/>
              <a:buFont typeface="+mj-lt"/>
              <a:buAutoNum type="arabicPeriod" startAt="8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Paul, A.,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Dhanushkodi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K. and Alphonse, S., 2023.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Mental Health Index (MHI): A personalized multi-task deep learning framework for real-time and explainable mental well-being assessment. </a:t>
            </a: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Access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11, pp. 1–15.</a:t>
            </a:r>
          </a:p>
          <a:p>
            <a:pPr>
              <a:buSzPct val="100000"/>
              <a:buFont typeface="+mj-lt"/>
              <a:buAutoNum type="arabicPeriod" startAt="8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Zhu, M., 2020.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Big data driven mental health assessment model for college students. </a:t>
            </a: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Journal of Healthcare Engineering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2020, pp. 1–10.</a:t>
            </a:r>
          </a:p>
          <a:p>
            <a:pPr>
              <a:buSzPct val="100000"/>
              <a:buFont typeface="+mj-lt"/>
              <a:buAutoNum type="arabicPeriod" startAt="8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Chen, Y., Wang, X., Li, Z. and Zhang, H., 2024.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Foundation models for physiological signal-based mental stress prediction. </a:t>
            </a: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Nature Digital Medicine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7(1), pp. 1–14.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Google Shape;167;p5">
            <a:extLst>
              <a:ext uri="{FF2B5EF4-FFF2-40B4-BE49-F238E27FC236}">
                <a16:creationId xmlns:a16="http://schemas.microsoft.com/office/drawing/2014/main" id="{2A246F0F-8D72-1ACF-9185-8F3AF5FFE15E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Dept. of CSE(AI&amp;ML)</a:t>
            </a: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09469B6-AF55-0C21-B3EA-2585BF9D9804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</p:spPr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                                             </a:t>
            </a:r>
            <a:fld id="{00000000-1234-1234-1234-123412341234}" type="slidenum">
              <a:rPr lang="en-IN" smtClean="0"/>
              <a:t>18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60638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F052EB3-FB3A-BB4B-CCE1-BC1434902CA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737600" y="6346191"/>
            <a:ext cx="2844800" cy="365125"/>
          </a:xfrm>
        </p:spPr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                                             </a:t>
            </a:r>
            <a:fld id="{00000000-1234-1234-1234-123412341234}" type="slidenum">
              <a:rPr lang="en-IN" smtClean="0"/>
              <a:t>19</a:t>
            </a:fld>
            <a:endParaRPr lang="en-IN" dirty="0"/>
          </a:p>
        </p:txBody>
      </p:sp>
      <p:pic>
        <p:nvPicPr>
          <p:cNvPr id="1028" name="Picture 4" descr="Thank You Vector Art, Icons, and Graphics for Free Download">
            <a:extLst>
              <a:ext uri="{FF2B5EF4-FFF2-40B4-BE49-F238E27FC236}">
                <a16:creationId xmlns:a16="http://schemas.microsoft.com/office/drawing/2014/main" id="{12ACF4AA-2B98-5B57-BC71-403DF944D4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5760" y="960120"/>
            <a:ext cx="5156200" cy="5156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B87F123-5458-D06A-2E4F-38CA263DC5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81343" y="-39909"/>
            <a:ext cx="593629" cy="593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7144190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1450</TotalTime>
  <Words>2372</Words>
  <Application>Microsoft Office PowerPoint</Application>
  <PresentationFormat>Widescreen</PresentationFormat>
  <Paragraphs>190</Paragraphs>
  <Slides>19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Calibri</vt:lpstr>
      <vt:lpstr>Times New Roman</vt:lpstr>
      <vt:lpstr>Verdana</vt:lpstr>
      <vt:lpstr>Custom Design</vt:lpstr>
      <vt:lpstr>GenAI Based Real-Time Human Well-Being and Stress Analysis System  Section A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Results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admin</dc:creator>
  <cp:lastModifiedBy>Ajith R B</cp:lastModifiedBy>
  <cp:revision>16</cp:revision>
  <dcterms:created xsi:type="dcterms:W3CDTF">2016-12-14T06:04:00Z</dcterms:created>
  <dcterms:modified xsi:type="dcterms:W3CDTF">2026-04-27T05:52:03Z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702CA046016A4DEE82C49E49005D3C7A_12</vt:lpwstr>
  </property>
  <property fmtid="{D5CDD505-2E9C-101B-9397-08002B2CF9AE}" pid="3" name="KSOProductBuildVer">
    <vt:lpwstr>1033-12.2.0.21179</vt:lpwstr>
  </property>
</Properties>
</file>